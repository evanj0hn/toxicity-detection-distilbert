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71" r:id="rId12"/>
    <p:sldId id="265" r:id="rId13"/>
    <p:sldId id="266" r:id="rId14"/>
    <p:sldId id="269" r:id="rId15"/>
    <p:sldId id="268" r:id="rId16"/>
  </p:sldIdLst>
  <p:sldSz cx="16256000" cy="9144000"/>
  <p:notesSz cx="9144000" cy="16256000"/>
  <p:embeddedFontLst>
    <p:embeddedFont>
      <p:font typeface="DM Sans" panose="020F0502020204030204" pitchFamily="2" charset="0"/>
      <p:regular r:id="rId18"/>
      <p:bold r:id="rId19"/>
      <p:italic r:id="rId20"/>
      <p:boldItalic r:id="rId21"/>
    </p:embeddedFont>
    <p:embeddedFont>
      <p:font typeface="Oranienbaum" panose="020F0502020204030204" pitchFamily="2" charset="0"/>
      <p:regular r:id="rId22"/>
    </p:embeddedFont>
    <p:embeddedFont>
      <p:font typeface="Quattrocento Sans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58D4E2-4DD3-4BAF-A49B-C2312E995AF5}" v="1" dt="2026-07-26T02:49:10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13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ohn" userId="1621a8f9b654af22" providerId="LiveId" clId="{CAA289DA-1481-4F5F-A96E-5DA71AA25045}"/>
    <pc:docChg chg="modSld">
      <pc:chgData name="Evan John" userId="1621a8f9b654af22" providerId="LiveId" clId="{CAA289DA-1481-4F5F-A96E-5DA71AA25045}" dt="2026-07-26T02:49:10.460" v="0" actId="20577"/>
      <pc:docMkLst>
        <pc:docMk/>
      </pc:docMkLst>
      <pc:sldChg chg="modSp mod">
        <pc:chgData name="Evan John" userId="1621a8f9b654af22" providerId="LiveId" clId="{CAA289DA-1481-4F5F-A96E-5DA71AA25045}" dt="2026-07-26T02:49:10.460" v="0" actId="20577"/>
        <pc:sldMkLst>
          <pc:docMk/>
          <pc:sldMk cId="0" sldId="269"/>
        </pc:sldMkLst>
        <pc:spChg chg="mod">
          <ac:chgData name="Evan John" userId="1621a8f9b654af22" providerId="LiveId" clId="{CAA289DA-1481-4F5F-A96E-5DA71AA25045}" dt="2026-07-26T02:49:10.460" v="0" actId="2057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87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jigsaw-toxic-comment-classification-challenge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1524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5000" y="0"/>
                </a:moveTo>
                <a:cubicBezTo>
                  <a:pt x="646410" y="0"/>
                  <a:pt x="657820" y="2480"/>
                  <a:pt x="668238" y="7193"/>
                </a:cubicBezTo>
                <a:lnTo>
                  <a:pt x="1135559" y="205383"/>
                </a:lnTo>
                <a:cubicBezTo>
                  <a:pt x="1190129" y="228451"/>
                  <a:pt x="1230809" y="282277"/>
                  <a:pt x="1230561" y="347266"/>
                </a:cubicBezTo>
                <a:cubicBezTo>
                  <a:pt x="1229320" y="593328"/>
                  <a:pt x="1128117" y="1043533"/>
                  <a:pt x="700732" y="1248172"/>
                </a:cubicBezTo>
                <a:cubicBezTo>
                  <a:pt x="659309" y="1268016"/>
                  <a:pt x="611188" y="1268016"/>
                  <a:pt x="569764" y="1248172"/>
                </a:cubicBezTo>
                <a:cubicBezTo>
                  <a:pt x="142131" y="1043533"/>
                  <a:pt x="41176" y="593328"/>
                  <a:pt x="39936" y="347266"/>
                </a:cubicBezTo>
                <a:cubicBezTo>
                  <a:pt x="39687" y="282277"/>
                  <a:pt x="80367" y="228451"/>
                  <a:pt x="134937" y="205383"/>
                </a:cubicBezTo>
                <a:lnTo>
                  <a:pt x="602010" y="7193"/>
                </a:lnTo>
                <a:cubicBezTo>
                  <a:pt x="612428" y="2480"/>
                  <a:pt x="623590" y="0"/>
                  <a:pt x="635000" y="0"/>
                </a:cubicBezTo>
                <a:close/>
                <a:moveTo>
                  <a:pt x="635000" y="165695"/>
                </a:moveTo>
                <a:lnTo>
                  <a:pt x="635000" y="1103561"/>
                </a:lnTo>
                <a:cubicBezTo>
                  <a:pt x="977305" y="937865"/>
                  <a:pt x="1069330" y="570756"/>
                  <a:pt x="1071563" y="350986"/>
                </a:cubicBezTo>
                <a:lnTo>
                  <a:pt x="635000" y="165943"/>
                </a:lnTo>
                <a:lnTo>
                  <a:pt x="635000" y="165943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43000" y="34290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Hate Speech &amp; Toxicity Detection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413000" y="457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i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End-to-End NLP Classification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5461000"/>
            <a:ext cx="2540000" cy="25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13000" y="7874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Jerin Pious  •  Evan Tomy  |  Advanced Machine Learning  |  Conestoga College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2032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24000" y="20574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24000" y="24765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of online toxicity and why current approaches fail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2032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0" y="20574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Approach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0" y="24765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Jigsaw dataset and DistilBERT-based ML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080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24000" y="51054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&amp; Deployment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24000" y="55245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architecture and AWS cloud infrastructure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5080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4000" y="51054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 &amp; Outcomes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0" y="55245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8-week roadmap and expected deliverables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Scale of Online Toxicity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40000" y="2590800"/>
            <a:ext cx="3365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4.76B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540000" y="3479800"/>
            <a:ext cx="336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 users globally</a:t>
            </a:r>
            <a:r>
              <a:rPr sz="800">
                <a:solidFill>
                  <a:srgbClr val="8BA5BF"/>
                </a:solidFill>
              </a:rPr>
              <a:t> [1]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86500" y="2590800"/>
            <a:ext cx="3365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500M+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286500" y="3479800"/>
            <a:ext cx="336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Tweets sent per day</a:t>
            </a:r>
            <a:r>
              <a:rPr sz="800">
                <a:solidFill>
                  <a:srgbClr val="8BA5BF"/>
                </a:solidFill>
              </a:rPr>
              <a:t> [2]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33000" y="2590800"/>
            <a:ext cx="3365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41%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32999" y="3479800"/>
            <a:ext cx="357806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Americans experienced online harassment</a:t>
            </a:r>
            <a:r>
              <a:rPr sz="800" dirty="0">
                <a:solidFill>
                  <a:srgbClr val="8BA5BF"/>
                </a:solidFill>
              </a:rPr>
              <a:t> [3]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14732000" cy="12700"/>
          </a:xfrm>
          <a:prstGeom prst="rect">
            <a:avLst/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52959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approaches consistently fail because they lack linguistic depth.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need advanced ML to detect hate speech at scale.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Current Approaches Fall Short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7112000" cy="2921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7056" y="57150"/>
                  <a:pt x="6608" y="64115"/>
                  <a:pt x="2143" y="74831"/>
                </a:cubicBezTo>
                <a:cubicBezTo>
                  <a:pt x="-2322" y="85546"/>
                  <a:pt x="179" y="97780"/>
                  <a:pt x="8394" y="105906"/>
                </a:cubicBezTo>
                <a:lnTo>
                  <a:pt x="171450" y="269051"/>
                </a:lnTo>
                <a:lnTo>
                  <a:pt x="171450" y="371475"/>
                </a:lnTo>
                <a:cubicBezTo>
                  <a:pt x="171450" y="379065"/>
                  <a:pt x="174486" y="386298"/>
                  <a:pt x="179844" y="391656"/>
                </a:cubicBezTo>
                <a:lnTo>
                  <a:pt x="236994" y="448806"/>
                </a:lnTo>
                <a:cubicBezTo>
                  <a:pt x="245209" y="457021"/>
                  <a:pt x="257443" y="459432"/>
                  <a:pt x="268159" y="454968"/>
                </a:cubicBezTo>
                <a:cubicBezTo>
                  <a:pt x="278874" y="450503"/>
                  <a:pt x="285750" y="440144"/>
                  <a:pt x="285750" y="428625"/>
                </a:cubicBezTo>
                <a:lnTo>
                  <a:pt x="285750" y="269051"/>
                </a:lnTo>
                <a:lnTo>
                  <a:pt x="448806" y="105995"/>
                </a:lnTo>
                <a:cubicBezTo>
                  <a:pt x="457021" y="97780"/>
                  <a:pt x="459432" y="85546"/>
                  <a:pt x="454968" y="74831"/>
                </a:cubicBezTo>
                <a:cubicBezTo>
                  <a:pt x="450503" y="64115"/>
                  <a:pt x="440144" y="57150"/>
                  <a:pt x="428625" y="57150"/>
                </a:cubicBezTo>
                <a:lnTo>
                  <a:pt x="28575" y="5715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78000" y="2286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 Filters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92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 context, sarcasm, and coded language. Cannot adapt to evolving online discourse.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7112000" cy="2921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763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1460" y="0"/>
                </a:moveTo>
                <a:cubicBezTo>
                  <a:pt x="251460" y="-15806"/>
                  <a:pt x="241244" y="-28575"/>
                  <a:pt x="228600" y="-28575"/>
                </a:cubicBezTo>
                <a:cubicBezTo>
                  <a:pt x="215956" y="-28575"/>
                  <a:pt x="205740" y="-15806"/>
                  <a:pt x="205740" y="0"/>
                </a:cubicBezTo>
                <a:lnTo>
                  <a:pt x="205740" y="57150"/>
                </a:lnTo>
                <a:lnTo>
                  <a:pt x="137160" y="57150"/>
                </a:lnTo>
                <a:cubicBezTo>
                  <a:pt x="99298" y="57150"/>
                  <a:pt x="68580" y="95548"/>
                  <a:pt x="68580" y="142875"/>
                </a:cubicBezTo>
                <a:lnTo>
                  <a:pt x="68580" y="342900"/>
                </a:lnTo>
                <a:cubicBezTo>
                  <a:pt x="68580" y="390227"/>
                  <a:pt x="99298" y="428625"/>
                  <a:pt x="137160" y="428625"/>
                </a:cubicBezTo>
                <a:lnTo>
                  <a:pt x="320040" y="428625"/>
                </a:lnTo>
                <a:cubicBezTo>
                  <a:pt x="357902" y="428625"/>
                  <a:pt x="388620" y="390227"/>
                  <a:pt x="388620" y="342900"/>
                </a:cubicBezTo>
                <a:lnTo>
                  <a:pt x="388620" y="142875"/>
                </a:lnTo>
                <a:cubicBezTo>
                  <a:pt x="388620" y="95548"/>
                  <a:pt x="357902" y="57150"/>
                  <a:pt x="320040" y="57150"/>
                </a:cubicBezTo>
                <a:lnTo>
                  <a:pt x="251460" y="57150"/>
                </a:lnTo>
                <a:lnTo>
                  <a:pt x="251460" y="0"/>
                </a:lnTo>
                <a:close/>
                <a:moveTo>
                  <a:pt x="114300" y="328613"/>
                </a:moveTo>
                <a:cubicBezTo>
                  <a:pt x="114300" y="316736"/>
                  <a:pt x="121944" y="307181"/>
                  <a:pt x="131445" y="307181"/>
                </a:cubicBezTo>
                <a:lnTo>
                  <a:pt x="154305" y="307181"/>
                </a:lnTo>
                <a:cubicBezTo>
                  <a:pt x="163806" y="307181"/>
                  <a:pt x="171450" y="316736"/>
                  <a:pt x="171450" y="328613"/>
                </a:cubicBezTo>
                <a:cubicBezTo>
                  <a:pt x="171450" y="340489"/>
                  <a:pt x="163806" y="350044"/>
                  <a:pt x="154305" y="350044"/>
                </a:cubicBezTo>
                <a:lnTo>
                  <a:pt x="131445" y="350044"/>
                </a:lnTo>
                <a:cubicBezTo>
                  <a:pt x="121944" y="350044"/>
                  <a:pt x="114300" y="340489"/>
                  <a:pt x="114300" y="328613"/>
                </a:cubicBezTo>
                <a:close/>
                <a:moveTo>
                  <a:pt x="200025" y="328613"/>
                </a:moveTo>
                <a:cubicBezTo>
                  <a:pt x="200025" y="316736"/>
                  <a:pt x="207669" y="307181"/>
                  <a:pt x="217170" y="307181"/>
                </a:cubicBezTo>
                <a:lnTo>
                  <a:pt x="240030" y="307181"/>
                </a:lnTo>
                <a:cubicBezTo>
                  <a:pt x="249531" y="307181"/>
                  <a:pt x="257175" y="316736"/>
                  <a:pt x="257175" y="328613"/>
                </a:cubicBezTo>
                <a:cubicBezTo>
                  <a:pt x="257175" y="340489"/>
                  <a:pt x="249531" y="350044"/>
                  <a:pt x="240030" y="350044"/>
                </a:cubicBezTo>
                <a:lnTo>
                  <a:pt x="217170" y="350044"/>
                </a:lnTo>
                <a:cubicBezTo>
                  <a:pt x="207669" y="350044"/>
                  <a:pt x="200025" y="340489"/>
                  <a:pt x="200025" y="328613"/>
                </a:cubicBezTo>
                <a:close/>
                <a:moveTo>
                  <a:pt x="285750" y="328613"/>
                </a:moveTo>
                <a:cubicBezTo>
                  <a:pt x="285750" y="316736"/>
                  <a:pt x="293394" y="307181"/>
                  <a:pt x="302895" y="307181"/>
                </a:cubicBezTo>
                <a:lnTo>
                  <a:pt x="325755" y="307181"/>
                </a:lnTo>
                <a:cubicBezTo>
                  <a:pt x="335256" y="307181"/>
                  <a:pt x="342900" y="316736"/>
                  <a:pt x="342900" y="328613"/>
                </a:cubicBezTo>
                <a:cubicBezTo>
                  <a:pt x="342900" y="340489"/>
                  <a:pt x="335256" y="350044"/>
                  <a:pt x="325755" y="350044"/>
                </a:cubicBezTo>
                <a:lnTo>
                  <a:pt x="302895" y="350044"/>
                </a:lnTo>
                <a:cubicBezTo>
                  <a:pt x="293394" y="350044"/>
                  <a:pt x="285750" y="340489"/>
                  <a:pt x="285750" y="328613"/>
                </a:cubicBezTo>
                <a:close/>
                <a:moveTo>
                  <a:pt x="160020" y="157163"/>
                </a:moveTo>
                <a:cubicBezTo>
                  <a:pt x="178945" y="157163"/>
                  <a:pt x="194310" y="176369"/>
                  <a:pt x="194310" y="200025"/>
                </a:cubicBezTo>
                <a:cubicBezTo>
                  <a:pt x="194310" y="223681"/>
                  <a:pt x="178945" y="242888"/>
                  <a:pt x="160020" y="242888"/>
                </a:cubicBezTo>
                <a:cubicBezTo>
                  <a:pt x="141095" y="242888"/>
                  <a:pt x="125730" y="223681"/>
                  <a:pt x="125730" y="200025"/>
                </a:cubicBezTo>
                <a:cubicBezTo>
                  <a:pt x="125730" y="176369"/>
                  <a:pt x="141095" y="157163"/>
                  <a:pt x="160020" y="157163"/>
                </a:cubicBezTo>
                <a:close/>
                <a:moveTo>
                  <a:pt x="262890" y="200025"/>
                </a:moveTo>
                <a:cubicBezTo>
                  <a:pt x="262890" y="176369"/>
                  <a:pt x="278255" y="157163"/>
                  <a:pt x="297180" y="157163"/>
                </a:cubicBezTo>
                <a:cubicBezTo>
                  <a:pt x="316105" y="157163"/>
                  <a:pt x="331470" y="176369"/>
                  <a:pt x="331470" y="200025"/>
                </a:cubicBezTo>
                <a:cubicBezTo>
                  <a:pt x="331470" y="223681"/>
                  <a:pt x="316105" y="242888"/>
                  <a:pt x="297180" y="242888"/>
                </a:cubicBezTo>
                <a:cubicBezTo>
                  <a:pt x="278255" y="242888"/>
                  <a:pt x="262890" y="223681"/>
                  <a:pt x="262890" y="200025"/>
                </a:cubicBezTo>
                <a:close/>
                <a:moveTo>
                  <a:pt x="45720" y="200025"/>
                </a:moveTo>
                <a:cubicBezTo>
                  <a:pt x="45720" y="184219"/>
                  <a:pt x="35504" y="171450"/>
                  <a:pt x="22860" y="171450"/>
                </a:cubicBezTo>
                <a:cubicBezTo>
                  <a:pt x="10216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0216" y="314325"/>
                  <a:pt x="22860" y="314325"/>
                </a:cubicBezTo>
                <a:cubicBezTo>
                  <a:pt x="35504" y="314325"/>
                  <a:pt x="45720" y="301556"/>
                  <a:pt x="45720" y="285750"/>
                </a:cubicBezTo>
                <a:lnTo>
                  <a:pt x="45720" y="200025"/>
                </a:lnTo>
                <a:close/>
                <a:moveTo>
                  <a:pt x="434340" y="171450"/>
                </a:moveTo>
                <a:cubicBezTo>
                  <a:pt x="421696" y="171450"/>
                  <a:pt x="411480" y="184219"/>
                  <a:pt x="411480" y="200025"/>
                </a:cubicBezTo>
                <a:lnTo>
                  <a:pt x="411480" y="285750"/>
                </a:lnTo>
                <a:cubicBezTo>
                  <a:pt x="411480" y="301556"/>
                  <a:pt x="421696" y="314325"/>
                  <a:pt x="434340" y="314325"/>
                </a:cubicBezTo>
                <a:cubicBezTo>
                  <a:pt x="446984" y="314325"/>
                  <a:pt x="457200" y="301556"/>
                  <a:pt x="457200" y="285750"/>
                </a:cubicBezTo>
                <a:lnTo>
                  <a:pt x="457200" y="200025"/>
                </a:lnTo>
                <a:cubicBezTo>
                  <a:pt x="457200" y="184219"/>
                  <a:pt x="446984" y="171450"/>
                  <a:pt x="434340" y="17145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98000" y="2286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 ML (TF-IDF)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63000" y="292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semantic understanding. High false-positive rates make them impractical for production.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207000"/>
            <a:ext cx="7112000" cy="2921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43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9479" y="32415"/>
                </a:moveTo>
                <a:cubicBezTo>
                  <a:pt x="129213" y="39201"/>
                  <a:pt x="131534" y="52596"/>
                  <a:pt x="124748" y="62240"/>
                </a:cubicBezTo>
                <a:lnTo>
                  <a:pt x="74741" y="133677"/>
                </a:lnTo>
                <a:cubicBezTo>
                  <a:pt x="71080" y="138857"/>
                  <a:pt x="65365" y="142161"/>
                  <a:pt x="59025" y="142696"/>
                </a:cubicBezTo>
                <a:cubicBezTo>
                  <a:pt x="52685" y="143232"/>
                  <a:pt x="46434" y="141089"/>
                  <a:pt x="41970" y="136624"/>
                </a:cubicBezTo>
                <a:lnTo>
                  <a:pt x="6251" y="100905"/>
                </a:lnTo>
                <a:cubicBezTo>
                  <a:pt x="-2054" y="92512"/>
                  <a:pt x="-2054" y="78938"/>
                  <a:pt x="6251" y="70545"/>
                </a:cubicBezTo>
                <a:cubicBezTo>
                  <a:pt x="14555" y="62151"/>
                  <a:pt x="28218" y="62240"/>
                  <a:pt x="36612" y="70545"/>
                </a:cubicBezTo>
                <a:lnTo>
                  <a:pt x="54293" y="88225"/>
                </a:lnTo>
                <a:lnTo>
                  <a:pt x="89654" y="37683"/>
                </a:lnTo>
                <a:cubicBezTo>
                  <a:pt x="96441" y="27950"/>
                  <a:pt x="109835" y="25628"/>
                  <a:pt x="119479" y="32415"/>
                </a:cubicBezTo>
                <a:close/>
                <a:moveTo>
                  <a:pt x="119479" y="175290"/>
                </a:moveTo>
                <a:cubicBezTo>
                  <a:pt x="129213" y="182076"/>
                  <a:pt x="131534" y="195471"/>
                  <a:pt x="124748" y="205115"/>
                </a:cubicBezTo>
                <a:lnTo>
                  <a:pt x="74741" y="276552"/>
                </a:lnTo>
                <a:cubicBezTo>
                  <a:pt x="71080" y="281732"/>
                  <a:pt x="65365" y="285036"/>
                  <a:pt x="59025" y="285571"/>
                </a:cubicBezTo>
                <a:cubicBezTo>
                  <a:pt x="52685" y="286107"/>
                  <a:pt x="46434" y="283964"/>
                  <a:pt x="41970" y="279499"/>
                </a:cubicBezTo>
                <a:lnTo>
                  <a:pt x="6251" y="243780"/>
                </a:lnTo>
                <a:cubicBezTo>
                  <a:pt x="-2143" y="235387"/>
                  <a:pt x="-2143" y="221813"/>
                  <a:pt x="6251" y="213509"/>
                </a:cubicBezTo>
                <a:cubicBezTo>
                  <a:pt x="14645" y="205204"/>
                  <a:pt x="28218" y="205115"/>
                  <a:pt x="36522" y="213509"/>
                </a:cubicBezTo>
                <a:lnTo>
                  <a:pt x="54203" y="231190"/>
                </a:lnTo>
                <a:lnTo>
                  <a:pt x="89565" y="180648"/>
                </a:lnTo>
                <a:cubicBezTo>
                  <a:pt x="96351" y="170914"/>
                  <a:pt x="109746" y="168592"/>
                  <a:pt x="119390" y="175379"/>
                </a:cubicBezTo>
                <a:close/>
                <a:moveTo>
                  <a:pt x="200025" y="85725"/>
                </a:moveTo>
                <a:cubicBezTo>
                  <a:pt x="200025" y="69919"/>
                  <a:pt x="212794" y="57150"/>
                  <a:pt x="228600" y="57150"/>
                </a:cubicBezTo>
                <a:lnTo>
                  <a:pt x="428625" y="57150"/>
                </a:lnTo>
                <a:cubicBezTo>
                  <a:pt x="444431" y="57150"/>
                  <a:pt x="457200" y="69919"/>
                  <a:pt x="457200" y="85725"/>
                </a:cubicBezTo>
                <a:cubicBezTo>
                  <a:pt x="457200" y="101531"/>
                  <a:pt x="444431" y="114300"/>
                  <a:pt x="428625" y="114300"/>
                </a:cubicBezTo>
                <a:lnTo>
                  <a:pt x="228600" y="114300"/>
                </a:lnTo>
                <a:cubicBezTo>
                  <a:pt x="212794" y="114300"/>
                  <a:pt x="200025" y="101531"/>
                  <a:pt x="200025" y="85725"/>
                </a:cubicBezTo>
                <a:close/>
                <a:moveTo>
                  <a:pt x="200025" y="228600"/>
                </a:moveTo>
                <a:cubicBezTo>
                  <a:pt x="200025" y="212794"/>
                  <a:pt x="212794" y="200025"/>
                  <a:pt x="228600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228600" y="257175"/>
                </a:lnTo>
                <a:cubicBezTo>
                  <a:pt x="212794" y="257175"/>
                  <a:pt x="200025" y="244406"/>
                  <a:pt x="200025" y="228600"/>
                </a:cubicBezTo>
                <a:close/>
                <a:moveTo>
                  <a:pt x="142875" y="371475"/>
                </a:moveTo>
                <a:cubicBezTo>
                  <a:pt x="142875" y="355669"/>
                  <a:pt x="155644" y="342900"/>
                  <a:pt x="171450" y="342900"/>
                </a:cubicBez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171450" y="400050"/>
                </a:lnTo>
                <a:cubicBezTo>
                  <a:pt x="155644" y="400050"/>
                  <a:pt x="142875" y="387281"/>
                  <a:pt x="142875" y="371475"/>
                </a:cubicBezTo>
                <a:close/>
                <a:moveTo>
                  <a:pt x="57150" y="335756"/>
                </a:moveTo>
                <a:cubicBezTo>
                  <a:pt x="76864" y="335756"/>
                  <a:pt x="92869" y="351761"/>
                  <a:pt x="92869" y="371475"/>
                </a:cubicBezTo>
                <a:cubicBezTo>
                  <a:pt x="92869" y="391189"/>
                  <a:pt x="76864" y="407194"/>
                  <a:pt x="57150" y="407194"/>
                </a:cubicBezTo>
                <a:cubicBezTo>
                  <a:pt x="37436" y="407194"/>
                  <a:pt x="21431" y="391189"/>
                  <a:pt x="21431" y="371475"/>
                </a:cubicBezTo>
                <a:cubicBezTo>
                  <a:pt x="21431" y="351761"/>
                  <a:pt x="37436" y="335756"/>
                  <a:pt x="57150" y="335756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78000" y="558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 Systems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6223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Brittle and easily bypassed with slang or spelling variations. Require constant manual updates.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5207000"/>
            <a:ext cx="7112000" cy="2921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63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0800" y="114300"/>
                </a:moveTo>
                <a:cubicBezTo>
                  <a:pt x="50800" y="59102"/>
                  <a:pt x="90635" y="14288"/>
                  <a:pt x="139700" y="14288"/>
                </a:cubicBezTo>
                <a:cubicBezTo>
                  <a:pt x="188765" y="14288"/>
                  <a:pt x="228600" y="59102"/>
                  <a:pt x="228600" y="114300"/>
                </a:cubicBezTo>
                <a:cubicBezTo>
                  <a:pt x="228600" y="169498"/>
                  <a:pt x="188765" y="214313"/>
                  <a:pt x="139700" y="214313"/>
                </a:cubicBezTo>
                <a:cubicBezTo>
                  <a:pt x="90635" y="214313"/>
                  <a:pt x="50800" y="169498"/>
                  <a:pt x="50800" y="114300"/>
                </a:cubicBezTo>
                <a:close/>
                <a:moveTo>
                  <a:pt x="0" y="414338"/>
                </a:moveTo>
                <a:cubicBezTo>
                  <a:pt x="0" y="327541"/>
                  <a:pt x="62547" y="257175"/>
                  <a:pt x="139700" y="257175"/>
                </a:cubicBezTo>
                <a:cubicBezTo>
                  <a:pt x="216853" y="257175"/>
                  <a:pt x="279400" y="327541"/>
                  <a:pt x="279400" y="414338"/>
                </a:cubicBezTo>
                <a:lnTo>
                  <a:pt x="279400" y="419695"/>
                </a:lnTo>
                <a:cubicBezTo>
                  <a:pt x="279400" y="440412"/>
                  <a:pt x="264478" y="457200"/>
                  <a:pt x="246063" y="457200"/>
                </a:cubicBezTo>
                <a:lnTo>
                  <a:pt x="33338" y="457200"/>
                </a:lnTo>
                <a:cubicBezTo>
                  <a:pt x="14923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42900" y="57150"/>
                </a:moveTo>
                <a:cubicBezTo>
                  <a:pt x="384956" y="57150"/>
                  <a:pt x="419100" y="95562"/>
                  <a:pt x="419100" y="142875"/>
                </a:cubicBezTo>
                <a:cubicBezTo>
                  <a:pt x="419100" y="190188"/>
                  <a:pt x="384956" y="228600"/>
                  <a:pt x="342900" y="228600"/>
                </a:cubicBezTo>
                <a:cubicBezTo>
                  <a:pt x="300844" y="228600"/>
                  <a:pt x="266700" y="190188"/>
                  <a:pt x="266700" y="142875"/>
                </a:cubicBezTo>
                <a:cubicBezTo>
                  <a:pt x="266700" y="95562"/>
                  <a:pt x="300844" y="57150"/>
                  <a:pt x="342900" y="57150"/>
                </a:cubicBezTo>
                <a:close/>
                <a:moveTo>
                  <a:pt x="342900" y="271463"/>
                </a:moveTo>
                <a:cubicBezTo>
                  <a:pt x="406003" y="271463"/>
                  <a:pt x="457200" y="329059"/>
                  <a:pt x="457200" y="400050"/>
                </a:cubicBezTo>
                <a:lnTo>
                  <a:pt x="457200" y="420053"/>
                </a:lnTo>
                <a:cubicBezTo>
                  <a:pt x="457200" y="440591"/>
                  <a:pt x="442436" y="457200"/>
                  <a:pt x="424180" y="457200"/>
                </a:cubicBezTo>
                <a:lnTo>
                  <a:pt x="309245" y="457200"/>
                </a:lnTo>
                <a:cubicBezTo>
                  <a:pt x="314484" y="446038"/>
                  <a:pt x="317500" y="433268"/>
                  <a:pt x="317500" y="419695"/>
                </a:cubicBezTo>
                <a:lnTo>
                  <a:pt x="317500" y="414338"/>
                </a:lnTo>
                <a:cubicBezTo>
                  <a:pt x="317500" y="368350"/>
                  <a:pt x="303689" y="326023"/>
                  <a:pt x="280591" y="292269"/>
                </a:cubicBezTo>
                <a:cubicBezTo>
                  <a:pt x="298529" y="279142"/>
                  <a:pt x="319961" y="271463"/>
                  <a:pt x="342900" y="271463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98000" y="558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Moderation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63000" y="6223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Impossible at scale. Causes moderator burnout and inconsistent enforcement.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Who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7112000" cy="2921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0" y="128588"/>
                </a:moveTo>
                <a:cubicBezTo>
                  <a:pt x="304800" y="215384"/>
                  <a:pt x="236538" y="285750"/>
                  <a:pt x="152400" y="285750"/>
                </a:cubicBezTo>
                <a:cubicBezTo>
                  <a:pt x="131207" y="285750"/>
                  <a:pt x="111046" y="281285"/>
                  <a:pt x="92710" y="273248"/>
                </a:cubicBezTo>
                <a:lnTo>
                  <a:pt x="27940" y="311825"/>
                </a:lnTo>
                <a:cubicBezTo>
                  <a:pt x="20558" y="316200"/>
                  <a:pt x="11509" y="314682"/>
                  <a:pt x="5556" y="308074"/>
                </a:cubicBezTo>
                <a:cubicBezTo>
                  <a:pt x="-397" y="301466"/>
                  <a:pt x="-1746" y="291197"/>
                  <a:pt x="2223" y="282893"/>
                </a:cubicBezTo>
                <a:lnTo>
                  <a:pt x="30480" y="222885"/>
                </a:lnTo>
                <a:cubicBezTo>
                  <a:pt x="11351" y="196632"/>
                  <a:pt x="0" y="163949"/>
                  <a:pt x="0" y="128588"/>
                </a:cubicBezTo>
                <a:cubicBezTo>
                  <a:pt x="0" y="41791"/>
                  <a:pt x="68263" y="-28575"/>
                  <a:pt x="152400" y="-28575"/>
                </a:cubicBezTo>
                <a:cubicBezTo>
                  <a:pt x="236538" y="-28575"/>
                  <a:pt x="304800" y="41791"/>
                  <a:pt x="304800" y="128588"/>
                </a:cubicBezTo>
                <a:close/>
                <a:moveTo>
                  <a:pt x="304800" y="457200"/>
                </a:moveTo>
                <a:cubicBezTo>
                  <a:pt x="230108" y="457200"/>
                  <a:pt x="167958" y="401747"/>
                  <a:pt x="154940" y="328613"/>
                </a:cubicBezTo>
                <a:cubicBezTo>
                  <a:pt x="250190" y="327273"/>
                  <a:pt x="332978" y="251014"/>
                  <a:pt x="342106" y="147608"/>
                </a:cubicBezTo>
                <a:cubicBezTo>
                  <a:pt x="408226" y="164753"/>
                  <a:pt x="457200" y="226457"/>
                  <a:pt x="457200" y="300038"/>
                </a:cubicBezTo>
                <a:cubicBezTo>
                  <a:pt x="457200" y="335399"/>
                  <a:pt x="445849" y="368082"/>
                  <a:pt x="426720" y="394335"/>
                </a:cubicBezTo>
                <a:lnTo>
                  <a:pt x="454978" y="454342"/>
                </a:lnTo>
                <a:cubicBezTo>
                  <a:pt x="458867" y="462647"/>
                  <a:pt x="457518" y="472827"/>
                  <a:pt x="451644" y="479524"/>
                </a:cubicBezTo>
                <a:cubicBezTo>
                  <a:pt x="445770" y="486221"/>
                  <a:pt x="436642" y="487740"/>
                  <a:pt x="429260" y="483275"/>
                </a:cubicBezTo>
                <a:lnTo>
                  <a:pt x="364490" y="444698"/>
                </a:lnTo>
                <a:cubicBezTo>
                  <a:pt x="346154" y="452735"/>
                  <a:pt x="325993" y="457200"/>
                  <a:pt x="304800" y="45720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78000" y="2286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Platforms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92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real-time content moderation at scale across Reddit, Twitter, YouTube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7112000" cy="2921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763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1837" y="16877"/>
                </a:moveTo>
                <a:cubicBezTo>
                  <a:pt x="422106" y="21431"/>
                  <a:pt x="428625" y="31611"/>
                  <a:pt x="428625" y="42863"/>
                </a:cubicBezTo>
                <a:lnTo>
                  <a:pt x="428625" y="414338"/>
                </a:lnTo>
                <a:cubicBezTo>
                  <a:pt x="428625" y="425589"/>
                  <a:pt x="422106" y="435769"/>
                  <a:pt x="411837" y="440323"/>
                </a:cubicBezTo>
                <a:cubicBezTo>
                  <a:pt x="401568" y="444877"/>
                  <a:pt x="389692" y="443180"/>
                  <a:pt x="381208" y="435769"/>
                </a:cubicBezTo>
                <a:lnTo>
                  <a:pt x="339596" y="399425"/>
                </a:lnTo>
                <a:cubicBezTo>
                  <a:pt x="300663" y="365403"/>
                  <a:pt x="251460" y="345579"/>
                  <a:pt x="199936" y="343168"/>
                </a:cubicBezTo>
                <a:lnTo>
                  <a:pt x="199936" y="428625"/>
                </a:lnTo>
                <a:cubicBezTo>
                  <a:pt x="199936" y="444431"/>
                  <a:pt x="187166" y="457200"/>
                  <a:pt x="171361" y="457200"/>
                </a:cubicBezTo>
                <a:lnTo>
                  <a:pt x="142786" y="457200"/>
                </a:lnTo>
                <a:cubicBezTo>
                  <a:pt x="126980" y="457200"/>
                  <a:pt x="114211" y="444431"/>
                  <a:pt x="114211" y="428625"/>
                </a:cubicBezTo>
                <a:lnTo>
                  <a:pt x="114211" y="342900"/>
                </a:lnTo>
                <a:cubicBezTo>
                  <a:pt x="51167" y="342900"/>
                  <a:pt x="0" y="291733"/>
                  <a:pt x="0" y="228600"/>
                </a:cubicBezTo>
                <a:cubicBezTo>
                  <a:pt x="0" y="165467"/>
                  <a:pt x="51167" y="114300"/>
                  <a:pt x="114300" y="114300"/>
                </a:cubicBezTo>
                <a:lnTo>
                  <a:pt x="189756" y="114300"/>
                </a:lnTo>
                <a:cubicBezTo>
                  <a:pt x="244941" y="114121"/>
                  <a:pt x="298162" y="94030"/>
                  <a:pt x="339685" y="57775"/>
                </a:cubicBezTo>
                <a:lnTo>
                  <a:pt x="381298" y="21431"/>
                </a:lnTo>
                <a:cubicBezTo>
                  <a:pt x="389692" y="14020"/>
                  <a:pt x="401747" y="12323"/>
                  <a:pt x="411926" y="16877"/>
                </a:cubicBezTo>
                <a:close/>
                <a:moveTo>
                  <a:pt x="200025" y="285750"/>
                </a:moveTo>
                <a:lnTo>
                  <a:pt x="200025" y="285929"/>
                </a:lnTo>
                <a:cubicBezTo>
                  <a:pt x="262801" y="288340"/>
                  <a:pt x="323076" y="311378"/>
                  <a:pt x="371475" y="351473"/>
                </a:cubicBezTo>
                <a:lnTo>
                  <a:pt x="371475" y="105638"/>
                </a:lnTo>
                <a:cubicBezTo>
                  <a:pt x="323076" y="145733"/>
                  <a:pt x="262801" y="168771"/>
                  <a:pt x="200025" y="171182"/>
                </a:cubicBezTo>
                <a:lnTo>
                  <a:pt x="200025" y="28575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98000" y="2286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Brands &amp; Advertisers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63000" y="292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 brand safety by screening user-generated content before publication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207000"/>
            <a:ext cx="7112000" cy="2921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43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6385" y="1072"/>
                </a:moveTo>
                <a:cubicBezTo>
                  <a:pt x="272891" y="-3304"/>
                  <a:pt x="258842" y="5536"/>
                  <a:pt x="254953" y="20717"/>
                </a:cubicBezTo>
                <a:lnTo>
                  <a:pt x="153353" y="420767"/>
                </a:lnTo>
                <a:cubicBezTo>
                  <a:pt x="149463" y="435947"/>
                  <a:pt x="157321" y="451753"/>
                  <a:pt x="170815" y="456128"/>
                </a:cubicBezTo>
                <a:cubicBezTo>
                  <a:pt x="184309" y="460504"/>
                  <a:pt x="198358" y="451664"/>
                  <a:pt x="202248" y="436483"/>
                </a:cubicBezTo>
                <a:lnTo>
                  <a:pt x="303848" y="36433"/>
                </a:lnTo>
                <a:cubicBezTo>
                  <a:pt x="307737" y="21253"/>
                  <a:pt x="299879" y="5447"/>
                  <a:pt x="286385" y="1072"/>
                </a:cubicBezTo>
                <a:close/>
                <a:moveTo>
                  <a:pt x="337661" y="122605"/>
                </a:moveTo>
                <a:cubicBezTo>
                  <a:pt x="327739" y="133767"/>
                  <a:pt x="327739" y="151894"/>
                  <a:pt x="337661" y="163056"/>
                </a:cubicBezTo>
                <a:lnTo>
                  <a:pt x="395922" y="228600"/>
                </a:lnTo>
                <a:lnTo>
                  <a:pt x="337661" y="294144"/>
                </a:lnTo>
                <a:cubicBezTo>
                  <a:pt x="327739" y="305306"/>
                  <a:pt x="327739" y="323433"/>
                  <a:pt x="337661" y="334595"/>
                </a:cubicBezTo>
                <a:cubicBezTo>
                  <a:pt x="347583" y="345758"/>
                  <a:pt x="363696" y="345758"/>
                  <a:pt x="373618" y="334595"/>
                </a:cubicBezTo>
                <a:lnTo>
                  <a:pt x="449818" y="248870"/>
                </a:lnTo>
                <a:cubicBezTo>
                  <a:pt x="459740" y="237708"/>
                  <a:pt x="459740" y="219581"/>
                  <a:pt x="449818" y="208419"/>
                </a:cubicBezTo>
                <a:lnTo>
                  <a:pt x="373618" y="122694"/>
                </a:lnTo>
                <a:cubicBezTo>
                  <a:pt x="363696" y="111532"/>
                  <a:pt x="347583" y="111532"/>
                  <a:pt x="337661" y="122694"/>
                </a:cubicBezTo>
                <a:close/>
                <a:moveTo>
                  <a:pt x="119618" y="122605"/>
                </a:moveTo>
                <a:cubicBezTo>
                  <a:pt x="109696" y="111442"/>
                  <a:pt x="93583" y="111442"/>
                  <a:pt x="83661" y="122605"/>
                </a:cubicBezTo>
                <a:lnTo>
                  <a:pt x="7461" y="208330"/>
                </a:lnTo>
                <a:cubicBezTo>
                  <a:pt x="-2461" y="219492"/>
                  <a:pt x="-2461" y="237619"/>
                  <a:pt x="7461" y="248781"/>
                </a:cubicBezTo>
                <a:lnTo>
                  <a:pt x="83661" y="334506"/>
                </a:lnTo>
                <a:cubicBezTo>
                  <a:pt x="93583" y="345668"/>
                  <a:pt x="109696" y="345668"/>
                  <a:pt x="119618" y="334506"/>
                </a:cubicBezTo>
                <a:cubicBezTo>
                  <a:pt x="129540" y="323344"/>
                  <a:pt x="129540" y="305217"/>
                  <a:pt x="119618" y="294055"/>
                </a:cubicBezTo>
                <a:lnTo>
                  <a:pt x="61357" y="228600"/>
                </a:lnTo>
                <a:lnTo>
                  <a:pt x="119539" y="163056"/>
                </a:lnTo>
                <a:cubicBezTo>
                  <a:pt x="129461" y="151894"/>
                  <a:pt x="129461" y="133767"/>
                  <a:pt x="119539" y="122605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78000" y="558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Developers &amp; Researchers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6223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 for integrating toxicity detection into any application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5207000"/>
            <a:ext cx="7112000" cy="2921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63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4320" y="28575"/>
                </a:moveTo>
                <a:lnTo>
                  <a:pt x="365760" y="28575"/>
                </a:lnTo>
                <a:cubicBezTo>
                  <a:pt x="378404" y="28575"/>
                  <a:pt x="388620" y="41344"/>
                  <a:pt x="388620" y="57150"/>
                </a:cubicBezTo>
                <a:cubicBezTo>
                  <a:pt x="388620" y="72956"/>
                  <a:pt x="378404" y="85725"/>
                  <a:pt x="365760" y="85725"/>
                </a:cubicBezTo>
                <a:lnTo>
                  <a:pt x="284607" y="85725"/>
                </a:lnTo>
                <a:cubicBezTo>
                  <a:pt x="280892" y="108764"/>
                  <a:pt x="268248" y="127784"/>
                  <a:pt x="251460" y="136892"/>
                </a:cubicBezTo>
                <a:lnTo>
                  <a:pt x="251460" y="400050"/>
                </a:lnTo>
                <a:lnTo>
                  <a:pt x="365760" y="400050"/>
                </a:lnTo>
                <a:cubicBezTo>
                  <a:pt x="378404" y="400050"/>
                  <a:pt x="388620" y="412819"/>
                  <a:pt x="388620" y="428625"/>
                </a:cubicBezTo>
                <a:cubicBezTo>
                  <a:pt x="388620" y="444431"/>
                  <a:pt x="378404" y="457200"/>
                  <a:pt x="365760" y="457200"/>
                </a:cubicBezTo>
                <a:lnTo>
                  <a:pt x="91440" y="457200"/>
                </a:lnTo>
                <a:cubicBezTo>
                  <a:pt x="78796" y="457200"/>
                  <a:pt x="68580" y="444431"/>
                  <a:pt x="68580" y="428625"/>
                </a:cubicBezTo>
                <a:cubicBezTo>
                  <a:pt x="68580" y="412819"/>
                  <a:pt x="78796" y="400050"/>
                  <a:pt x="91440" y="400050"/>
                </a:cubicBezTo>
                <a:lnTo>
                  <a:pt x="205740" y="400050"/>
                </a:lnTo>
                <a:lnTo>
                  <a:pt x="205740" y="136892"/>
                </a:lnTo>
                <a:cubicBezTo>
                  <a:pt x="188952" y="127695"/>
                  <a:pt x="176308" y="108674"/>
                  <a:pt x="172593" y="85725"/>
                </a:cubicBezTo>
                <a:lnTo>
                  <a:pt x="91440" y="85725"/>
                </a:lnTo>
                <a:cubicBezTo>
                  <a:pt x="78796" y="85725"/>
                  <a:pt x="68580" y="72956"/>
                  <a:pt x="68580" y="57150"/>
                </a:cubicBezTo>
                <a:cubicBezTo>
                  <a:pt x="68580" y="41344"/>
                  <a:pt x="78796" y="28575"/>
                  <a:pt x="91440" y="28575"/>
                </a:cubicBezTo>
                <a:lnTo>
                  <a:pt x="182880" y="28575"/>
                </a:lnTo>
                <a:cubicBezTo>
                  <a:pt x="193310" y="11251"/>
                  <a:pt x="209883" y="0"/>
                  <a:pt x="228600" y="0"/>
                </a:cubicBezTo>
                <a:cubicBezTo>
                  <a:pt x="247317" y="0"/>
                  <a:pt x="263890" y="11251"/>
                  <a:pt x="274320" y="28575"/>
                </a:cubicBezTo>
                <a:close/>
                <a:moveTo>
                  <a:pt x="314039" y="285750"/>
                </a:moveTo>
                <a:lnTo>
                  <a:pt x="417481" y="285750"/>
                </a:lnTo>
                <a:lnTo>
                  <a:pt x="365760" y="174843"/>
                </a:lnTo>
                <a:lnTo>
                  <a:pt x="314039" y="285750"/>
                </a:lnTo>
                <a:close/>
                <a:moveTo>
                  <a:pt x="365760" y="371475"/>
                </a:moveTo>
                <a:cubicBezTo>
                  <a:pt x="320826" y="371475"/>
                  <a:pt x="283464" y="341114"/>
                  <a:pt x="275749" y="301020"/>
                </a:cubicBezTo>
                <a:cubicBezTo>
                  <a:pt x="273891" y="291197"/>
                  <a:pt x="276463" y="281107"/>
                  <a:pt x="280535" y="272355"/>
                </a:cubicBezTo>
                <a:lnTo>
                  <a:pt x="348544" y="126623"/>
                </a:lnTo>
                <a:cubicBezTo>
                  <a:pt x="352115" y="118943"/>
                  <a:pt x="358688" y="114300"/>
                  <a:pt x="365760" y="114300"/>
                </a:cubicBezTo>
                <a:cubicBezTo>
                  <a:pt x="372832" y="114300"/>
                  <a:pt x="379405" y="119033"/>
                  <a:pt x="382976" y="126623"/>
                </a:cubicBezTo>
                <a:lnTo>
                  <a:pt x="450985" y="272355"/>
                </a:lnTo>
                <a:cubicBezTo>
                  <a:pt x="455057" y="281107"/>
                  <a:pt x="457629" y="291197"/>
                  <a:pt x="455771" y="301020"/>
                </a:cubicBezTo>
                <a:cubicBezTo>
                  <a:pt x="448056" y="341025"/>
                  <a:pt x="410694" y="371475"/>
                  <a:pt x="365760" y="371475"/>
                </a:cubicBezTo>
                <a:close/>
                <a:moveTo>
                  <a:pt x="90583" y="174843"/>
                </a:moveTo>
                <a:lnTo>
                  <a:pt x="38862" y="285750"/>
                </a:lnTo>
                <a:lnTo>
                  <a:pt x="142375" y="285750"/>
                </a:lnTo>
                <a:lnTo>
                  <a:pt x="90583" y="174843"/>
                </a:lnTo>
                <a:close/>
                <a:moveTo>
                  <a:pt x="643" y="301020"/>
                </a:moveTo>
                <a:cubicBezTo>
                  <a:pt x="-1214" y="291197"/>
                  <a:pt x="1357" y="281107"/>
                  <a:pt x="5429" y="272355"/>
                </a:cubicBezTo>
                <a:lnTo>
                  <a:pt x="73438" y="126623"/>
                </a:lnTo>
                <a:cubicBezTo>
                  <a:pt x="77010" y="118943"/>
                  <a:pt x="83582" y="114300"/>
                  <a:pt x="90654" y="114300"/>
                </a:cubicBezTo>
                <a:cubicBezTo>
                  <a:pt x="97727" y="114300"/>
                  <a:pt x="104299" y="119033"/>
                  <a:pt x="107871" y="126623"/>
                </a:cubicBezTo>
                <a:lnTo>
                  <a:pt x="175879" y="272355"/>
                </a:lnTo>
                <a:cubicBezTo>
                  <a:pt x="179951" y="281107"/>
                  <a:pt x="182523" y="291197"/>
                  <a:pt x="180665" y="301020"/>
                </a:cubicBezTo>
                <a:cubicBezTo>
                  <a:pt x="172950" y="341025"/>
                  <a:pt x="135588" y="371475"/>
                  <a:pt x="90654" y="371475"/>
                </a:cubicBezTo>
                <a:cubicBezTo>
                  <a:pt x="45720" y="371475"/>
                  <a:pt x="8358" y="341114"/>
                  <a:pt x="643" y="30102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98000" y="558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Regulators &amp; NGOs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63000" y="6223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with EU Digital Services Act and Canada's Online Harms Act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Jigsaw Toxic Comment Dataset</a:t>
            </a:r>
            <a:r>
              <a:rPr sz="1000">
                <a:solidFill>
                  <a:srgbClr val="8BA5BF"/>
                </a:solidFill>
              </a:rPr>
              <a:t> [4]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~160,000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Wikipedia comments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302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 Labels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62000" y="3937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toxic, severe_toxic, obscene, threat, insult, identity_hate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635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~90%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61999" y="5334000"/>
            <a:ext cx="5903463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Non-toxic comments — mitigated via class-weighted loss, back-translation augmentation &amp; synthetic data generation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635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9731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CC0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62000" y="69850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open for research use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200" dirty="0"/>
          </a:p>
        </p:txBody>
      </p:sp>
      <p:pic>
        <p:nvPicPr>
          <p:cNvPr id="14" name="Picture 13" descr="class_dis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463" y="2222500"/>
            <a:ext cx="9082537" cy="53831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Our ML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2032000" cy="406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349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DistilBERT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6350000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for multi-label classification with a sigmoid output head. Selected for its 40% smaller size and 60% faster inference speed, making it the right fit for free-tier deployment on a 1GB RAM instance</a:t>
            </a:r>
            <a:r>
              <a:rPr sz="800">
                <a:solidFill>
                  <a:srgbClr val="8BA5BF"/>
                </a:solidFill>
              </a:rPr>
              <a:t> [5]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49403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BASELINES FOR COMPARISON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33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B1</a:t>
            </a: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TF-IDF + Logistic Regression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56896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</a:t>
            </a: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LSTM + GloVe embeddings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778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8412480" y="148132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DM Sans"/>
              </a:rPr>
              <a:t>Key Advantages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103120"/>
            <a:ext cx="100584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0" y="2286000"/>
            <a:ext cx="6949440" cy="138988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97316"/>
                </a:solidFill>
                <a:latin typeface="DM Sans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2560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M Sans"/>
              </a:rPr>
              <a:t>Smaller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0358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A5BF"/>
                </a:solidFill>
                <a:latin typeface="DM Sans"/>
              </a:rPr>
              <a:t>Fewer parameters than BERT-base
(67M vs 110M)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877056"/>
            <a:ext cx="6949440" cy="138988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401421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97316"/>
                </a:solidFill>
                <a:latin typeface="DM Sans"/>
              </a:rP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415137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M Sans"/>
              </a:rPr>
              <a:t>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62686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A5BF"/>
                </a:solidFill>
                <a:latin typeface="DM Sans"/>
              </a:rPr>
              <a:t>Inference speed advantage over
BERT-base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5468112"/>
            <a:ext cx="6949440" cy="138988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560527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97316"/>
                </a:solidFill>
                <a:latin typeface="DM Sans"/>
              </a:rPr>
              <a:t>6-Label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574243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M Sans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217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A5BF"/>
                </a:solidFill>
                <a:latin typeface="DM Sans"/>
              </a:rPr>
              <a:t>Multi-label sigmoid head for
6 toxicity classes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>
                <a:solidFill>
                  <a:srgbClr val="FFFFFF"/>
                </a:solidFill>
                <a:latin typeface="Oranienbaum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261872"/>
            <a:ext cx="100584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115032" y="8631936"/>
            <a:ext cx="630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BA5BF"/>
                </a:solidFill>
                <a:latin typeface="DM Sans"/>
              </a:rPr>
              <a:t>08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CD095-BA2A-B771-DB28-0E403C647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88079"/>
            <a:ext cx="14711251" cy="500130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>
                <a:solidFill>
                  <a:srgbClr val="FFFFFF"/>
                </a:solidFill>
                <a:latin typeface="Oranienbaum"/>
              </a:rPr>
              <a:t>ML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261872"/>
            <a:ext cx="100584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115032" y="8631936"/>
            <a:ext cx="630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BA5BF"/>
                </a:solidFill>
                <a:latin typeface="DM Sans"/>
              </a:rPr>
              <a:t>09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701B3-963A-A727-0D9A-06C9CEF9D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12" y="2313938"/>
            <a:ext cx="15281756" cy="4206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AWS Cloud 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4699000" cy="1778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9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510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S3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9500" y="2730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storage &amp; model artifacts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905000"/>
            <a:ext cx="4699000" cy="1778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96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675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Colab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0" y="2730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T4 GPU for model training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905000"/>
            <a:ext cx="4699000" cy="1778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12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6840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EC2 t2.micro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12500" y="2730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tier hosting, always-on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064000"/>
            <a:ext cx="4699000" cy="1778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95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4978" y="69850"/>
                </a:moveTo>
                <a:lnTo>
                  <a:pt x="231422" y="69850"/>
                </a:lnTo>
                <a:lnTo>
                  <a:pt x="231422" y="107950"/>
                </a:lnTo>
                <a:lnTo>
                  <a:pt x="174978" y="107950"/>
                </a:lnTo>
                <a:lnTo>
                  <a:pt x="174978" y="69850"/>
                </a:lnTo>
                <a:close/>
                <a:moveTo>
                  <a:pt x="169333" y="25400"/>
                </a:moveTo>
                <a:cubicBezTo>
                  <a:pt x="150636" y="25400"/>
                  <a:pt x="135467" y="42466"/>
                  <a:pt x="135467" y="63500"/>
                </a:cubicBezTo>
                <a:lnTo>
                  <a:pt x="135467" y="114300"/>
                </a:lnTo>
                <a:cubicBezTo>
                  <a:pt x="135467" y="135334"/>
                  <a:pt x="150636" y="152400"/>
                  <a:pt x="169333" y="152400"/>
                </a:cubicBezTo>
                <a:lnTo>
                  <a:pt x="180622" y="152400"/>
                </a:lnTo>
                <a:lnTo>
                  <a:pt x="180622" y="177800"/>
                </a:lnTo>
                <a:lnTo>
                  <a:pt x="22578" y="177800"/>
                </a:lnTo>
                <a:cubicBezTo>
                  <a:pt x="10089" y="177800"/>
                  <a:pt x="0" y="189151"/>
                  <a:pt x="0" y="203200"/>
                </a:cubicBezTo>
                <a:cubicBezTo>
                  <a:pt x="0" y="217249"/>
                  <a:pt x="10089" y="228600"/>
                  <a:pt x="22578" y="228600"/>
                </a:cubicBezTo>
                <a:lnTo>
                  <a:pt x="90311" y="228600"/>
                </a:lnTo>
                <a:lnTo>
                  <a:pt x="90311" y="254000"/>
                </a:lnTo>
                <a:lnTo>
                  <a:pt x="79022" y="254000"/>
                </a:lnTo>
                <a:cubicBezTo>
                  <a:pt x="60325" y="254000"/>
                  <a:pt x="45156" y="271066"/>
                  <a:pt x="45156" y="292100"/>
                </a:cubicBezTo>
                <a:lnTo>
                  <a:pt x="45156" y="342900"/>
                </a:lnTo>
                <a:cubicBezTo>
                  <a:pt x="45156" y="363934"/>
                  <a:pt x="60325" y="381000"/>
                  <a:pt x="79022" y="381000"/>
                </a:cubicBezTo>
                <a:lnTo>
                  <a:pt x="146756" y="381000"/>
                </a:lnTo>
                <a:cubicBezTo>
                  <a:pt x="165453" y="381000"/>
                  <a:pt x="180622" y="363934"/>
                  <a:pt x="180622" y="342900"/>
                </a:cubicBezTo>
                <a:lnTo>
                  <a:pt x="180622" y="292100"/>
                </a:lnTo>
                <a:cubicBezTo>
                  <a:pt x="180622" y="271066"/>
                  <a:pt x="165453" y="254000"/>
                  <a:pt x="146756" y="254000"/>
                </a:cubicBezTo>
                <a:lnTo>
                  <a:pt x="135467" y="254000"/>
                </a:lnTo>
                <a:lnTo>
                  <a:pt x="135467" y="228600"/>
                </a:lnTo>
                <a:lnTo>
                  <a:pt x="270933" y="228600"/>
                </a:lnTo>
                <a:lnTo>
                  <a:pt x="270933" y="254000"/>
                </a:lnTo>
                <a:lnTo>
                  <a:pt x="259644" y="254000"/>
                </a:lnTo>
                <a:cubicBezTo>
                  <a:pt x="240947" y="254000"/>
                  <a:pt x="225778" y="271066"/>
                  <a:pt x="225778" y="292100"/>
                </a:cubicBezTo>
                <a:lnTo>
                  <a:pt x="225778" y="342900"/>
                </a:lnTo>
                <a:cubicBezTo>
                  <a:pt x="225778" y="363934"/>
                  <a:pt x="240947" y="381000"/>
                  <a:pt x="259644" y="381000"/>
                </a:cubicBezTo>
                <a:lnTo>
                  <a:pt x="327378" y="381000"/>
                </a:lnTo>
                <a:cubicBezTo>
                  <a:pt x="346075" y="381000"/>
                  <a:pt x="361244" y="363934"/>
                  <a:pt x="361244" y="342900"/>
                </a:cubicBezTo>
                <a:lnTo>
                  <a:pt x="361244" y="292100"/>
                </a:lnTo>
                <a:cubicBezTo>
                  <a:pt x="361244" y="271066"/>
                  <a:pt x="346075" y="254000"/>
                  <a:pt x="327378" y="254000"/>
                </a:cubicBezTo>
                <a:lnTo>
                  <a:pt x="316089" y="254000"/>
                </a:lnTo>
                <a:lnTo>
                  <a:pt x="316089" y="228600"/>
                </a:lnTo>
                <a:lnTo>
                  <a:pt x="383822" y="228600"/>
                </a:lnTo>
                <a:cubicBezTo>
                  <a:pt x="396311" y="228600"/>
                  <a:pt x="406400" y="217249"/>
                  <a:pt x="406400" y="203200"/>
                </a:cubicBezTo>
                <a:cubicBezTo>
                  <a:pt x="406400" y="189151"/>
                  <a:pt x="396311" y="177800"/>
                  <a:pt x="383822" y="177800"/>
                </a:cubicBezTo>
                <a:lnTo>
                  <a:pt x="225778" y="177800"/>
                </a:lnTo>
                <a:lnTo>
                  <a:pt x="225778" y="152400"/>
                </a:lnTo>
                <a:lnTo>
                  <a:pt x="237067" y="152400"/>
                </a:lnTo>
                <a:cubicBezTo>
                  <a:pt x="255764" y="152400"/>
                  <a:pt x="270933" y="135334"/>
                  <a:pt x="270933" y="114300"/>
                </a:cubicBezTo>
                <a:lnTo>
                  <a:pt x="270933" y="63500"/>
                </a:lnTo>
                <a:cubicBezTo>
                  <a:pt x="270933" y="42466"/>
                  <a:pt x="255764" y="25400"/>
                  <a:pt x="237067" y="25400"/>
                </a:cubicBezTo>
                <a:lnTo>
                  <a:pt x="169333" y="25400"/>
                </a:lnTo>
                <a:close/>
                <a:moveTo>
                  <a:pt x="316089" y="298450"/>
                </a:moveTo>
                <a:lnTo>
                  <a:pt x="321733" y="298450"/>
                </a:lnTo>
                <a:lnTo>
                  <a:pt x="321733" y="336550"/>
                </a:lnTo>
                <a:lnTo>
                  <a:pt x="265289" y="336550"/>
                </a:lnTo>
                <a:lnTo>
                  <a:pt x="265289" y="298450"/>
                </a:lnTo>
                <a:lnTo>
                  <a:pt x="316089" y="298450"/>
                </a:lnTo>
                <a:close/>
                <a:moveTo>
                  <a:pt x="135467" y="298450"/>
                </a:moveTo>
                <a:lnTo>
                  <a:pt x="141111" y="298450"/>
                </a:lnTo>
                <a:lnTo>
                  <a:pt x="141111" y="336550"/>
                </a:lnTo>
                <a:lnTo>
                  <a:pt x="84667" y="336550"/>
                </a:lnTo>
                <a:lnTo>
                  <a:pt x="84667" y="298450"/>
                </a:lnTo>
                <a:lnTo>
                  <a:pt x="135467" y="29845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51000" y="438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4GB Swap Partition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9500" y="4889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OOM faults on 1GB RAM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0" y="4064000"/>
            <a:ext cx="4699000" cy="1778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960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791" y="188278"/>
                </a:moveTo>
                <a:cubicBezTo>
                  <a:pt x="362395" y="197644"/>
                  <a:pt x="373761" y="199708"/>
                  <a:pt x="382334" y="192643"/>
                </a:cubicBezTo>
                <a:cubicBezTo>
                  <a:pt x="391668" y="184864"/>
                  <a:pt x="394208" y="169069"/>
                  <a:pt x="387985" y="157401"/>
                </a:cubicBezTo>
                <a:lnTo>
                  <a:pt x="357505" y="100251"/>
                </a:lnTo>
                <a:cubicBezTo>
                  <a:pt x="355727" y="96917"/>
                  <a:pt x="353314" y="94139"/>
                  <a:pt x="350456" y="92154"/>
                </a:cubicBezTo>
                <a:lnTo>
                  <a:pt x="223139" y="3731"/>
                </a:lnTo>
                <a:cubicBezTo>
                  <a:pt x="210884" y="-4762"/>
                  <a:pt x="195961" y="-4762"/>
                  <a:pt x="183642" y="3731"/>
                </a:cubicBezTo>
                <a:lnTo>
                  <a:pt x="56388" y="92075"/>
                </a:lnTo>
                <a:cubicBezTo>
                  <a:pt x="52959" y="94456"/>
                  <a:pt x="50229" y="97949"/>
                  <a:pt x="48387" y="102235"/>
                </a:cubicBezTo>
                <a:lnTo>
                  <a:pt x="17590" y="173593"/>
                </a:lnTo>
                <a:cubicBezTo>
                  <a:pt x="9589" y="192167"/>
                  <a:pt x="15177" y="215265"/>
                  <a:pt x="30036" y="225266"/>
                </a:cubicBezTo>
                <a:lnTo>
                  <a:pt x="50991" y="239316"/>
                </a:lnTo>
                <a:lnTo>
                  <a:pt x="50991" y="281622"/>
                </a:lnTo>
                <a:cubicBezTo>
                  <a:pt x="50991" y="299879"/>
                  <a:pt x="58865" y="316786"/>
                  <a:pt x="71565" y="325834"/>
                </a:cubicBezTo>
                <a:lnTo>
                  <a:pt x="183325" y="404971"/>
                </a:lnTo>
                <a:cubicBezTo>
                  <a:pt x="195771" y="413782"/>
                  <a:pt x="210947" y="413782"/>
                  <a:pt x="223393" y="404971"/>
                </a:cubicBezTo>
                <a:lnTo>
                  <a:pt x="335153" y="325834"/>
                </a:lnTo>
                <a:cubicBezTo>
                  <a:pt x="347917" y="316786"/>
                  <a:pt x="355727" y="299958"/>
                  <a:pt x="355727" y="281622"/>
                </a:cubicBezTo>
                <a:lnTo>
                  <a:pt x="355727" y="188357"/>
                </a:lnTo>
                <a:close/>
                <a:moveTo>
                  <a:pt x="203390" y="180499"/>
                </a:moveTo>
                <a:lnTo>
                  <a:pt x="108077" y="114300"/>
                </a:lnTo>
                <a:lnTo>
                  <a:pt x="203391" y="48101"/>
                </a:lnTo>
                <a:lnTo>
                  <a:pt x="298704" y="114300"/>
                </a:lnTo>
                <a:lnTo>
                  <a:pt x="203391" y="180499"/>
                </a:lnTo>
                <a:close/>
                <a:moveTo>
                  <a:pt x="177038" y="220345"/>
                </a:moveTo>
                <a:lnTo>
                  <a:pt x="163512" y="257016"/>
                </a:lnTo>
                <a:lnTo>
                  <a:pt x="58229" y="186531"/>
                </a:lnTo>
                <a:lnTo>
                  <a:pt x="74358" y="149066"/>
                </a:lnTo>
                <a:lnTo>
                  <a:pt x="177038" y="220345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67500" y="438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96000" y="4889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Containerized deployment on EC2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795000" y="4064000"/>
            <a:ext cx="4699000" cy="1778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1125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684000" y="438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Frontend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112500" y="4889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Served directly from EC2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  <a:latin typeface="Calibri"/>
              </a:rPr>
              <a:t>Team Workflow &amp; Project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61872"/>
            <a:ext cx="100584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7498079" cy="3291840"/>
          </a:xfrm>
          <a:prstGeom prst="rect">
            <a:avLst/>
          </a:prstGeom>
          <a:solidFill>
            <a:srgbClr val="162A40"/>
          </a:solidFill>
          <a:ln w="15240">
            <a:solidFill>
              <a:srgbClr val="1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618488"/>
            <a:ext cx="7095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97316"/>
                </a:solidFill>
                <a:latin typeface="Calibri"/>
              </a:rPr>
              <a:t>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75688"/>
            <a:ext cx="70957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libri"/>
              </a:rPr>
              <a:t>GitHub (Private Repository)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Feature-branch workflow </a:t>
            </a:r>
            <a:r>
              <a:rPr lang="en-CA" sz="1600" b="0" dirty="0">
                <a:solidFill>
                  <a:srgbClr val="D0E0F0"/>
                </a:solidFill>
                <a:latin typeface="Calibri"/>
              </a:rPr>
              <a:t>to ensure </a:t>
            </a:r>
            <a:r>
              <a:rPr sz="1600" b="0" dirty="0">
                <a:solidFill>
                  <a:srgbClr val="D0E0F0"/>
                </a:solidFill>
                <a:latin typeface="Calibri"/>
              </a:rPr>
              <a:t> no direct commits to main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Pull request + peer review required before merge</a:t>
            </a:r>
            <a:br>
              <a:rPr lang="en-CA" sz="1600" b="0" dirty="0">
                <a:solidFill>
                  <a:srgbClr val="D0E0F0"/>
                </a:solidFill>
                <a:latin typeface="Calibri"/>
              </a:rPr>
            </a:br>
            <a:r>
              <a:rPr lang="en-CA" sz="1600" b="0" dirty="0">
                <a:solidFill>
                  <a:srgbClr val="D0E0F0"/>
                </a:solidFill>
                <a:latin typeface="Calibri"/>
              </a:rPr>
              <a:t>GitHub issues will be used to track bugs and assign tasks.</a:t>
            </a:r>
            <a:endParaRPr sz="1600" b="0" dirty="0">
              <a:solidFill>
                <a:srgbClr val="D0E0F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1039" y="1417320"/>
            <a:ext cx="7498079" cy="3291840"/>
          </a:xfrm>
          <a:prstGeom prst="rect">
            <a:avLst/>
          </a:prstGeom>
          <a:solidFill>
            <a:srgbClr val="162A40"/>
          </a:solidFill>
          <a:ln w="15240">
            <a:solidFill>
              <a:srgbClr val="1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22207" y="1618488"/>
            <a:ext cx="7095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97316"/>
                </a:solidFill>
                <a:latin typeface="Calibri"/>
              </a:rPr>
              <a:t>Task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7" y="2075688"/>
            <a:ext cx="70957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libri"/>
              </a:rPr>
              <a:t>GitHub Projects  (Kanban Board)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To Do  →  In Progress  →  Review / QA  →  Done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Weekly sprint planning at start of each lab session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Task owners tracked per milestone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7498079" cy="3291840"/>
          </a:xfrm>
          <a:prstGeom prst="rect">
            <a:avLst/>
          </a:prstGeom>
          <a:solidFill>
            <a:srgbClr val="162A40"/>
          </a:solidFill>
          <a:ln w="15240">
            <a:solidFill>
              <a:srgbClr val="1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5184648"/>
            <a:ext cx="7095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97316"/>
                </a:solidFill>
                <a:latin typeface="Calibri"/>
              </a:rPr>
              <a:t>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641848"/>
            <a:ext cx="709574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libri"/>
              </a:rPr>
              <a:t>Synchronous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Weekly in-person meetings during lab sessions</a:t>
            </a:r>
            <a:r>
              <a:rPr lang="en-CA" sz="1600" b="0" dirty="0">
                <a:solidFill>
                  <a:srgbClr val="D0E0F0"/>
                </a:solidFill>
                <a:latin typeface="Calibri"/>
              </a:rPr>
              <a:t> or other scheduled Times</a:t>
            </a:r>
            <a:endParaRPr sz="1600" b="0" dirty="0">
              <a:solidFill>
                <a:srgbClr val="D0E0F0"/>
              </a:solidFill>
              <a:latin typeface="Calibri"/>
            </a:endParaRPr>
          </a:p>
          <a:p>
            <a:r>
              <a:rPr b="1" dirty="0">
                <a:solidFill>
                  <a:srgbClr val="FFFFFF"/>
                </a:solidFill>
                <a:latin typeface="Calibri"/>
              </a:rPr>
              <a:t>Asynchronous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WhatsApp group — daily updates and quick decisions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39" y="4983480"/>
            <a:ext cx="7498079" cy="3291840"/>
          </a:xfrm>
          <a:prstGeom prst="rect">
            <a:avLst/>
          </a:prstGeom>
          <a:solidFill>
            <a:srgbClr val="162A40"/>
          </a:solidFill>
          <a:ln w="15240">
            <a:solidFill>
              <a:srgbClr val="1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7" y="5184648"/>
            <a:ext cx="7095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97316"/>
                </a:solidFill>
                <a:latin typeface="Calibri"/>
              </a:rPr>
              <a:t>Team Responsibilities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5641848"/>
            <a:ext cx="709574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Calibri"/>
              </a:rPr>
              <a:t>Jerin Pious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Model architecture · </a:t>
            </a:r>
            <a:r>
              <a:rPr sz="1600" b="0" dirty="0" err="1">
                <a:solidFill>
                  <a:srgbClr val="D0E0F0"/>
                </a:solidFill>
                <a:latin typeface="Calibri"/>
              </a:rPr>
              <a:t>DistilBERT</a:t>
            </a:r>
            <a:r>
              <a:rPr sz="1600" b="0" dirty="0">
                <a:solidFill>
                  <a:srgbClr val="D0E0F0"/>
                </a:solidFill>
                <a:latin typeface="Calibri"/>
              </a:rPr>
              <a:t> fine-tuning · SHAP · evaluation</a:t>
            </a:r>
          </a:p>
          <a:p>
            <a:r>
              <a:rPr b="1" dirty="0">
                <a:solidFill>
                  <a:srgbClr val="FFFFFF"/>
                </a:solidFill>
                <a:latin typeface="Calibri"/>
              </a:rPr>
              <a:t>Evan Tomy</a:t>
            </a:r>
          </a:p>
          <a:p>
            <a:r>
              <a:rPr sz="1600" b="0" dirty="0">
                <a:solidFill>
                  <a:srgbClr val="D0E0F0"/>
                </a:solidFill>
                <a:latin typeface="Calibri"/>
              </a:rPr>
              <a:t>Data pipeline · EC2 · Docker · </a:t>
            </a:r>
            <a:r>
              <a:rPr sz="1600" b="0" dirty="0" err="1">
                <a:solidFill>
                  <a:srgbClr val="D0E0F0"/>
                </a:solidFill>
                <a:latin typeface="Calibri"/>
              </a:rPr>
              <a:t>FastAPI</a:t>
            </a:r>
            <a:r>
              <a:rPr sz="1600" b="0" dirty="0">
                <a:solidFill>
                  <a:srgbClr val="D0E0F0"/>
                </a:solidFill>
                <a:latin typeface="Calibri"/>
              </a:rPr>
              <a:t> backend · React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50160" y="8595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BA5B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8-Week Development Timeline</a:t>
            </a:r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78000" y="1905000"/>
            <a:ext cx="0" cy="6096000"/>
          </a:xfrm>
          <a:prstGeom prst="straightConnector1">
            <a:avLst/>
          </a:prstGeom>
          <a:noFill/>
          <a:ln w="25400">
            <a:solidFill>
              <a:srgbClr val="1E3A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76400" y="2095500"/>
            <a:ext cx="203200" cy="203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5000" y="2057400"/>
            <a:ext cx="95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1–2</a:t>
            </a:r>
          </a:p>
        </p:txBody>
      </p:sp>
      <p:sp>
        <p:nvSpPr>
          <p:cNvPr id="7" name="Text 5"/>
          <p:cNvSpPr/>
          <p:nvPr/>
        </p:nvSpPr>
        <p:spPr>
          <a:xfrm>
            <a:off x="2222500" y="2057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Proposal &amp; Setup</a:t>
            </a:r>
          </a:p>
        </p:txBody>
      </p:sp>
      <p:sp>
        <p:nvSpPr>
          <p:cNvPr id="8" name="Text 6"/>
          <p:cNvSpPr/>
          <p:nvPr/>
        </p:nvSpPr>
        <p:spPr>
          <a:xfrm>
            <a:off x="2222500" y="24130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proposal, setup, dataset acquisition, GitHub repo setup</a:t>
            </a:r>
          </a:p>
        </p:txBody>
      </p:sp>
      <p:sp>
        <p:nvSpPr>
          <p:cNvPr id="9" name="Shape 7"/>
          <p:cNvSpPr/>
          <p:nvPr/>
        </p:nvSpPr>
        <p:spPr>
          <a:xfrm>
            <a:off x="1676400" y="3111500"/>
            <a:ext cx="203200" cy="203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000" y="3073400"/>
            <a:ext cx="95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3–4</a:t>
            </a:r>
          </a:p>
        </p:txBody>
      </p:sp>
      <p:sp>
        <p:nvSpPr>
          <p:cNvPr id="11" name="Text 9"/>
          <p:cNvSpPr/>
          <p:nvPr/>
        </p:nvSpPr>
        <p:spPr>
          <a:xfrm>
            <a:off x="2222500" y="3073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</a:p>
        </p:txBody>
      </p:sp>
      <p:sp>
        <p:nvSpPr>
          <p:cNvPr id="12" name="Text 10"/>
          <p:cNvSpPr/>
          <p:nvPr/>
        </p:nvSpPr>
        <p:spPr>
          <a:xfrm>
            <a:off x="2222500" y="34290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EDA, preprocessing, tokenization, baseline models</a:t>
            </a:r>
          </a:p>
        </p:txBody>
      </p:sp>
      <p:sp>
        <p:nvSpPr>
          <p:cNvPr id="13" name="Shape 11"/>
          <p:cNvSpPr/>
          <p:nvPr/>
        </p:nvSpPr>
        <p:spPr>
          <a:xfrm>
            <a:off x="1676400" y="4127500"/>
            <a:ext cx="203200" cy="203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000" y="4089400"/>
            <a:ext cx="95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5–6</a:t>
            </a:r>
          </a:p>
        </p:txBody>
      </p:sp>
      <p:sp>
        <p:nvSpPr>
          <p:cNvPr id="15" name="Text 13"/>
          <p:cNvSpPr/>
          <p:nvPr/>
        </p:nvSpPr>
        <p:spPr>
          <a:xfrm>
            <a:off x="2222500" y="4089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</a:t>
            </a:r>
          </a:p>
        </p:txBody>
      </p:sp>
      <p:sp>
        <p:nvSpPr>
          <p:cNvPr id="16" name="Text 14"/>
          <p:cNvSpPr/>
          <p:nvPr/>
        </p:nvSpPr>
        <p:spPr>
          <a:xfrm>
            <a:off x="2222500" y="44450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 DistilBERT on Google Colab, export weights to S3</a:t>
            </a:r>
          </a:p>
        </p:txBody>
      </p:sp>
      <p:sp>
        <p:nvSpPr>
          <p:cNvPr id="17" name="Shape 15"/>
          <p:cNvSpPr/>
          <p:nvPr/>
        </p:nvSpPr>
        <p:spPr>
          <a:xfrm>
            <a:off x="1676400" y="5143500"/>
            <a:ext cx="203200" cy="203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000" y="5105400"/>
            <a:ext cx="95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7</a:t>
            </a:r>
          </a:p>
        </p:txBody>
      </p:sp>
      <p:sp>
        <p:nvSpPr>
          <p:cNvPr id="19" name="Text 17"/>
          <p:cNvSpPr/>
          <p:nvPr/>
        </p:nvSpPr>
        <p:spPr>
          <a:xfrm>
            <a:off x="2222500" y="5105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</a:t>
            </a:r>
          </a:p>
        </p:txBody>
      </p:sp>
      <p:sp>
        <p:nvSpPr>
          <p:cNvPr id="20" name="Text 18"/>
          <p:cNvSpPr/>
          <p:nvPr/>
        </p:nvSpPr>
        <p:spPr>
          <a:xfrm>
            <a:off x="2222500" y="54610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explainability, threshold tuning, error analysis</a:t>
            </a:r>
          </a:p>
        </p:txBody>
      </p:sp>
      <p:sp>
        <p:nvSpPr>
          <p:cNvPr id="21" name="Shape 19"/>
          <p:cNvSpPr/>
          <p:nvPr/>
        </p:nvSpPr>
        <p:spPr>
          <a:xfrm>
            <a:off x="1676400" y="6159500"/>
            <a:ext cx="203200" cy="203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000" y="6121400"/>
            <a:ext cx="95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8</a:t>
            </a:r>
          </a:p>
        </p:txBody>
      </p:sp>
      <p:sp>
        <p:nvSpPr>
          <p:cNvPr id="23" name="Text 21"/>
          <p:cNvSpPr/>
          <p:nvPr/>
        </p:nvSpPr>
        <p:spPr>
          <a:xfrm>
            <a:off x="2222500" y="6121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&amp; Final Delivery</a:t>
            </a:r>
          </a:p>
        </p:txBody>
      </p:sp>
      <p:sp>
        <p:nvSpPr>
          <p:cNvPr id="24" name="Text 22"/>
          <p:cNvSpPr/>
          <p:nvPr/>
        </p:nvSpPr>
        <p:spPr>
          <a:xfrm>
            <a:off x="2222500" y="64770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EC2/FastAPI/React live · Full report, demo video, final presentation</a:t>
            </a:r>
          </a:p>
        </p:txBody>
      </p:sp>
      <p:sp>
        <p:nvSpPr>
          <p:cNvPr id="29" name="Text 27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758952" y="1426464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BA5BF"/>
                </a:solidFill>
                <a:latin typeface="Calibri"/>
              </a:rPr>
              <a:t>Jun 23 – Aug 17, 2026  ·  Course Weeks 7–14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2159000"/>
            <a:ext cx="4699000" cy="5334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79700" y="2794000"/>
            <a:ext cx="863600" cy="863600"/>
          </a:xfrm>
          <a:custGeom>
            <a:avLst/>
            <a:gdLst/>
            <a:ahLst/>
            <a:cxnLst/>
            <a:rect l="l" t="t" r="r" b="b"/>
            <a:pathLst>
              <a:path w="863600" h="863600">
                <a:moveTo>
                  <a:pt x="107950" y="107950"/>
                </a:moveTo>
                <a:cubicBezTo>
                  <a:pt x="107950" y="78095"/>
                  <a:pt x="83830" y="53975"/>
                  <a:pt x="53975" y="53975"/>
                </a:cubicBezTo>
                <a:cubicBezTo>
                  <a:pt x="24120" y="53975"/>
                  <a:pt x="0" y="78095"/>
                  <a:pt x="0" y="107950"/>
                </a:cubicBezTo>
                <a:lnTo>
                  <a:pt x="0" y="674688"/>
                </a:lnTo>
                <a:cubicBezTo>
                  <a:pt x="0" y="749240"/>
                  <a:pt x="60385" y="809625"/>
                  <a:pt x="134938" y="809625"/>
                </a:cubicBezTo>
                <a:lnTo>
                  <a:pt x="809625" y="809625"/>
                </a:lnTo>
                <a:cubicBezTo>
                  <a:pt x="839480" y="809625"/>
                  <a:pt x="863600" y="785505"/>
                  <a:pt x="863600" y="755650"/>
                </a:cubicBezTo>
                <a:cubicBezTo>
                  <a:pt x="863600" y="725795"/>
                  <a:pt x="839480" y="701675"/>
                  <a:pt x="809625" y="701675"/>
                </a:cubicBezTo>
                <a:lnTo>
                  <a:pt x="134938" y="701675"/>
                </a:lnTo>
                <a:cubicBezTo>
                  <a:pt x="120094" y="701675"/>
                  <a:pt x="107950" y="689531"/>
                  <a:pt x="107950" y="674688"/>
                </a:cubicBezTo>
                <a:lnTo>
                  <a:pt x="107950" y="107950"/>
                </a:lnTo>
                <a:close/>
                <a:moveTo>
                  <a:pt x="793770" y="254020"/>
                </a:moveTo>
                <a:cubicBezTo>
                  <a:pt x="814854" y="232936"/>
                  <a:pt x="814854" y="198695"/>
                  <a:pt x="793770" y="177611"/>
                </a:cubicBezTo>
                <a:cubicBezTo>
                  <a:pt x="772686" y="156527"/>
                  <a:pt x="738445" y="156527"/>
                  <a:pt x="717361" y="177611"/>
                </a:cubicBezTo>
                <a:lnTo>
                  <a:pt x="539750" y="355392"/>
                </a:lnTo>
                <a:lnTo>
                  <a:pt x="442932" y="258743"/>
                </a:lnTo>
                <a:cubicBezTo>
                  <a:pt x="421848" y="237659"/>
                  <a:pt x="387608" y="237659"/>
                  <a:pt x="366524" y="258743"/>
                </a:cubicBezTo>
                <a:lnTo>
                  <a:pt x="204599" y="420668"/>
                </a:lnTo>
                <a:cubicBezTo>
                  <a:pt x="183515" y="441752"/>
                  <a:pt x="183515" y="475992"/>
                  <a:pt x="204599" y="497076"/>
                </a:cubicBezTo>
                <a:cubicBezTo>
                  <a:pt x="225683" y="518160"/>
                  <a:pt x="259923" y="518160"/>
                  <a:pt x="281007" y="497076"/>
                </a:cubicBezTo>
                <a:lnTo>
                  <a:pt x="404813" y="373271"/>
                </a:lnTo>
                <a:lnTo>
                  <a:pt x="501630" y="470089"/>
                </a:lnTo>
                <a:cubicBezTo>
                  <a:pt x="522714" y="491173"/>
                  <a:pt x="556955" y="491173"/>
                  <a:pt x="578039" y="470089"/>
                </a:cubicBezTo>
                <a:lnTo>
                  <a:pt x="793939" y="254189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4064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ROC-AUC &gt; 0.95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4699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Matching the Jigsaw competition standards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78500" y="2159000"/>
            <a:ext cx="4699000" cy="5334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96200" y="2794000"/>
            <a:ext cx="863600" cy="863600"/>
          </a:xfrm>
          <a:custGeom>
            <a:avLst/>
            <a:gdLst/>
            <a:ahLst/>
            <a:cxnLst/>
            <a:rect l="l" t="t" r="r" b="b"/>
            <a:pathLst>
              <a:path w="863600" h="863600">
                <a:moveTo>
                  <a:pt x="593556" y="472281"/>
                </a:moveTo>
                <a:lnTo>
                  <a:pt x="271562" y="472281"/>
                </a:lnTo>
                <a:cubicBezTo>
                  <a:pt x="276453" y="581075"/>
                  <a:pt x="300573" y="681266"/>
                  <a:pt x="334814" y="754638"/>
                </a:cubicBezTo>
                <a:cubicBezTo>
                  <a:pt x="354042" y="795963"/>
                  <a:pt x="374789" y="825143"/>
                  <a:pt x="394017" y="843022"/>
                </a:cubicBezTo>
                <a:cubicBezTo>
                  <a:pt x="412909" y="860733"/>
                  <a:pt x="425896" y="863600"/>
                  <a:pt x="432643" y="863600"/>
                </a:cubicBezTo>
                <a:cubicBezTo>
                  <a:pt x="439390" y="863600"/>
                  <a:pt x="452378" y="860733"/>
                  <a:pt x="471269" y="843022"/>
                </a:cubicBezTo>
                <a:cubicBezTo>
                  <a:pt x="490498" y="825143"/>
                  <a:pt x="511244" y="795794"/>
                  <a:pt x="530473" y="754638"/>
                </a:cubicBezTo>
                <a:cubicBezTo>
                  <a:pt x="564713" y="681266"/>
                  <a:pt x="588834" y="581075"/>
                  <a:pt x="593725" y="472281"/>
                </a:cubicBezTo>
                <a:close/>
                <a:moveTo>
                  <a:pt x="271393" y="391319"/>
                </a:moveTo>
                <a:lnTo>
                  <a:pt x="593388" y="391319"/>
                </a:lnTo>
                <a:cubicBezTo>
                  <a:pt x="588665" y="282525"/>
                  <a:pt x="564545" y="182334"/>
                  <a:pt x="530304" y="108962"/>
                </a:cubicBezTo>
                <a:cubicBezTo>
                  <a:pt x="511076" y="67806"/>
                  <a:pt x="490329" y="38457"/>
                  <a:pt x="471101" y="20578"/>
                </a:cubicBezTo>
                <a:cubicBezTo>
                  <a:pt x="452209" y="2867"/>
                  <a:pt x="439222" y="0"/>
                  <a:pt x="432475" y="0"/>
                </a:cubicBezTo>
                <a:cubicBezTo>
                  <a:pt x="425728" y="0"/>
                  <a:pt x="412740" y="2867"/>
                  <a:pt x="393849" y="20578"/>
                </a:cubicBezTo>
                <a:cubicBezTo>
                  <a:pt x="374620" y="38457"/>
                  <a:pt x="353874" y="67806"/>
                  <a:pt x="334645" y="108962"/>
                </a:cubicBezTo>
                <a:cubicBezTo>
                  <a:pt x="300405" y="182334"/>
                  <a:pt x="276285" y="282525"/>
                  <a:pt x="271393" y="391319"/>
                </a:cubicBezTo>
                <a:close/>
                <a:moveTo>
                  <a:pt x="190431" y="391319"/>
                </a:moveTo>
                <a:cubicBezTo>
                  <a:pt x="196334" y="246936"/>
                  <a:pt x="233611" y="112841"/>
                  <a:pt x="288092" y="24795"/>
                </a:cubicBezTo>
                <a:cubicBezTo>
                  <a:pt x="132745" y="79782"/>
                  <a:pt x="18385" y="221297"/>
                  <a:pt x="2530" y="391319"/>
                </a:cubicBezTo>
                <a:lnTo>
                  <a:pt x="190431" y="391319"/>
                </a:lnTo>
                <a:close/>
                <a:moveTo>
                  <a:pt x="2530" y="472281"/>
                </a:moveTo>
                <a:cubicBezTo>
                  <a:pt x="18385" y="642303"/>
                  <a:pt x="132745" y="783818"/>
                  <a:pt x="288092" y="838805"/>
                </a:cubicBezTo>
                <a:cubicBezTo>
                  <a:pt x="233611" y="750759"/>
                  <a:pt x="196334" y="616664"/>
                  <a:pt x="190431" y="472281"/>
                </a:cubicBezTo>
                <a:lnTo>
                  <a:pt x="2530" y="472281"/>
                </a:lnTo>
                <a:close/>
                <a:moveTo>
                  <a:pt x="674519" y="472281"/>
                </a:moveTo>
                <a:cubicBezTo>
                  <a:pt x="668615" y="616664"/>
                  <a:pt x="631339" y="750759"/>
                  <a:pt x="576858" y="838805"/>
                </a:cubicBezTo>
                <a:cubicBezTo>
                  <a:pt x="732205" y="783650"/>
                  <a:pt x="846564" y="642303"/>
                  <a:pt x="862419" y="472281"/>
                </a:cubicBezTo>
                <a:lnTo>
                  <a:pt x="674519" y="472281"/>
                </a:lnTo>
                <a:close/>
                <a:moveTo>
                  <a:pt x="862419" y="391319"/>
                </a:moveTo>
                <a:cubicBezTo>
                  <a:pt x="846564" y="221297"/>
                  <a:pt x="732205" y="79782"/>
                  <a:pt x="576858" y="24795"/>
                </a:cubicBezTo>
                <a:cubicBezTo>
                  <a:pt x="631339" y="112841"/>
                  <a:pt x="668615" y="246936"/>
                  <a:pt x="674519" y="391319"/>
                </a:cubicBezTo>
                <a:lnTo>
                  <a:pt x="862419" y="391319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59500" y="4064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Live REST API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59500" y="4699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Deployed on AWS EC2 free tier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2159000"/>
            <a:ext cx="4699000" cy="5334000"/>
          </a:xfrm>
          <a:prstGeom prst="rect">
            <a:avLst/>
          </a:prstGeom>
          <a:solidFill>
            <a:srgbClr val="162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712700" y="2794000"/>
            <a:ext cx="863600" cy="863600"/>
          </a:xfrm>
          <a:custGeom>
            <a:avLst/>
            <a:gdLst/>
            <a:ahLst/>
            <a:cxnLst/>
            <a:rect l="l" t="t" r="r" b="b"/>
            <a:pathLst>
              <a:path w="863600" h="863600">
                <a:moveTo>
                  <a:pt x="701675" y="350838"/>
                </a:moveTo>
                <a:cubicBezTo>
                  <a:pt x="701675" y="428258"/>
                  <a:pt x="676543" y="499775"/>
                  <a:pt x="634206" y="557798"/>
                </a:cubicBezTo>
                <a:lnTo>
                  <a:pt x="847745" y="771505"/>
                </a:lnTo>
                <a:cubicBezTo>
                  <a:pt x="868829" y="792589"/>
                  <a:pt x="868829" y="826830"/>
                  <a:pt x="847745" y="847914"/>
                </a:cubicBezTo>
                <a:cubicBezTo>
                  <a:pt x="826661" y="868998"/>
                  <a:pt x="792420" y="868998"/>
                  <a:pt x="771336" y="847914"/>
                </a:cubicBezTo>
                <a:lnTo>
                  <a:pt x="557798" y="634206"/>
                </a:lnTo>
                <a:cubicBezTo>
                  <a:pt x="499775" y="676543"/>
                  <a:pt x="428258" y="701675"/>
                  <a:pt x="350838" y="701675"/>
                </a:cubicBezTo>
                <a:cubicBezTo>
                  <a:pt x="157034" y="701675"/>
                  <a:pt x="0" y="544641"/>
                  <a:pt x="0" y="350838"/>
                </a:cubicBezTo>
                <a:cubicBezTo>
                  <a:pt x="0" y="157034"/>
                  <a:pt x="157034" y="0"/>
                  <a:pt x="350838" y="0"/>
                </a:cubicBezTo>
                <a:cubicBezTo>
                  <a:pt x="544641" y="0"/>
                  <a:pt x="701675" y="157034"/>
                  <a:pt x="701675" y="350838"/>
                </a:cubicBezTo>
                <a:close/>
                <a:moveTo>
                  <a:pt x="175419" y="364331"/>
                </a:moveTo>
                <a:lnTo>
                  <a:pt x="175419" y="472281"/>
                </a:lnTo>
                <a:cubicBezTo>
                  <a:pt x="175419" y="494715"/>
                  <a:pt x="193467" y="512763"/>
                  <a:pt x="215900" y="512763"/>
                </a:cubicBezTo>
                <a:cubicBezTo>
                  <a:pt x="238333" y="512763"/>
                  <a:pt x="256381" y="494715"/>
                  <a:pt x="256381" y="472281"/>
                </a:cubicBezTo>
                <a:lnTo>
                  <a:pt x="256381" y="364331"/>
                </a:lnTo>
                <a:cubicBezTo>
                  <a:pt x="256381" y="341898"/>
                  <a:pt x="238333" y="323850"/>
                  <a:pt x="215900" y="323850"/>
                </a:cubicBezTo>
                <a:cubicBezTo>
                  <a:pt x="193467" y="323850"/>
                  <a:pt x="175419" y="341898"/>
                  <a:pt x="175419" y="364331"/>
                </a:cubicBezTo>
                <a:close/>
                <a:moveTo>
                  <a:pt x="310356" y="202406"/>
                </a:moveTo>
                <a:lnTo>
                  <a:pt x="310356" y="472281"/>
                </a:lnTo>
                <a:cubicBezTo>
                  <a:pt x="310356" y="494715"/>
                  <a:pt x="328404" y="512763"/>
                  <a:pt x="350838" y="512763"/>
                </a:cubicBezTo>
                <a:cubicBezTo>
                  <a:pt x="373271" y="512763"/>
                  <a:pt x="391319" y="494715"/>
                  <a:pt x="391319" y="472281"/>
                </a:cubicBezTo>
                <a:lnTo>
                  <a:pt x="391319" y="202406"/>
                </a:lnTo>
                <a:cubicBezTo>
                  <a:pt x="391319" y="179973"/>
                  <a:pt x="373271" y="161925"/>
                  <a:pt x="350838" y="161925"/>
                </a:cubicBezTo>
                <a:cubicBezTo>
                  <a:pt x="328404" y="161925"/>
                  <a:pt x="310356" y="179973"/>
                  <a:pt x="310356" y="202406"/>
                </a:cubicBezTo>
                <a:close/>
                <a:moveTo>
                  <a:pt x="445294" y="310356"/>
                </a:moveTo>
                <a:lnTo>
                  <a:pt x="445294" y="472281"/>
                </a:lnTo>
                <a:cubicBezTo>
                  <a:pt x="445294" y="494715"/>
                  <a:pt x="463342" y="512763"/>
                  <a:pt x="485775" y="512763"/>
                </a:cubicBezTo>
                <a:cubicBezTo>
                  <a:pt x="508208" y="512763"/>
                  <a:pt x="526256" y="494715"/>
                  <a:pt x="526256" y="472281"/>
                </a:cubicBezTo>
                <a:lnTo>
                  <a:pt x="526256" y="310356"/>
                </a:lnTo>
                <a:cubicBezTo>
                  <a:pt x="526256" y="287923"/>
                  <a:pt x="508208" y="269875"/>
                  <a:pt x="485775" y="269875"/>
                </a:cubicBezTo>
                <a:cubicBezTo>
                  <a:pt x="463342" y="269875"/>
                  <a:pt x="445294" y="287923"/>
                  <a:pt x="445294" y="310356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76000" y="4064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Explainable AI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176000" y="4699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D0E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token-level attributions for model interpretability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13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97316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789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dirty="0">
                <a:solidFill>
                  <a:srgbClr val="FFFFFF"/>
                </a:solidFill>
              </a:rPr>
              <a:t>[1]  </a:t>
            </a:r>
            <a:r>
              <a:rPr dirty="0" err="1">
                <a:solidFill>
                  <a:srgbClr val="FFFFFF"/>
                </a:solidFill>
              </a:rPr>
              <a:t>DataReportal</a:t>
            </a:r>
            <a:r>
              <a:rPr dirty="0">
                <a:solidFill>
                  <a:srgbClr val="FFFFFF"/>
                </a:solidFill>
              </a:rPr>
              <a:t>. (2023). Digital 2023: Global Overview Report. https://datareportal.com/reports/digital-2023-global-overview-report</a:t>
            </a:r>
          </a:p>
          <a:p>
            <a:pPr>
              <a:spcAft>
                <a:spcPts val="1800"/>
              </a:spcAft>
            </a:pPr>
            <a:r>
              <a:rPr dirty="0">
                <a:solidFill>
                  <a:srgbClr val="FFFFFF"/>
                </a:solidFill>
              </a:rPr>
              <a:t>[2]  Internet Live Stats. (2023). Twitter Usage Statistics. https://www.internetlivestats.com/twitter-statistics/</a:t>
            </a:r>
          </a:p>
          <a:p>
            <a:pPr>
              <a:spcAft>
                <a:spcPts val="1800"/>
              </a:spcAft>
            </a:pPr>
            <a:r>
              <a:rPr dirty="0">
                <a:solidFill>
                  <a:srgbClr val="FFFFFF"/>
                </a:solidFill>
              </a:rPr>
              <a:t>[3]  Anti-Defamation League. (2021). Online Hate and Harassment: The American Experience 2021 — 41% of Americans experienced online harassment. https://www.adl.org/resources/report/online-hate-and-harassment-american-experience-2021</a:t>
            </a:r>
          </a:p>
          <a:p>
            <a:pPr>
              <a:spcAft>
                <a:spcPts val="1800"/>
              </a:spcAft>
            </a:pPr>
            <a:r>
              <a:rPr dirty="0">
                <a:solidFill>
                  <a:srgbClr val="FFFFFF"/>
                </a:solidFill>
              </a:rPr>
              <a:t>[4]  Kaggle / Google Jigsaw. (2018). Toxic Comment Classification Challenge Dataset (CC0). </a:t>
            </a:r>
            <a:r>
              <a:rPr dirty="0">
                <a:solidFill>
                  <a:srgbClr val="FFFFFF"/>
                </a:solidFill>
                <a:hlinkClick r:id="rId2"/>
              </a:rPr>
              <a:t>https://www.kaggle.com/c/jigsaw-toxic-comment-classification-challenge</a:t>
            </a:r>
            <a:r>
              <a:rPr lang="en-CA">
                <a:solidFill>
                  <a:srgbClr val="FFFFFF"/>
                </a:solidFill>
              </a:rPr>
              <a:t> 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1800"/>
              </a:spcAft>
            </a:pPr>
            <a:r>
              <a:rPr dirty="0">
                <a:solidFill>
                  <a:srgbClr val="FFFFFF"/>
                </a:solidFill>
              </a:rPr>
              <a:t>[5]  Sanh, V., Debut, L., </a:t>
            </a:r>
            <a:r>
              <a:rPr dirty="0" err="1">
                <a:solidFill>
                  <a:srgbClr val="FFFFFF"/>
                </a:solidFill>
              </a:rPr>
              <a:t>Chaumond</a:t>
            </a:r>
            <a:r>
              <a:rPr dirty="0">
                <a:solidFill>
                  <a:srgbClr val="FFFFFF"/>
                </a:solidFill>
              </a:rPr>
              <a:t>, J., &amp; Wolf, T. (2019). </a:t>
            </a:r>
            <a:r>
              <a:rPr dirty="0" err="1">
                <a:solidFill>
                  <a:srgbClr val="FFFFFF"/>
                </a:solidFill>
              </a:rPr>
              <a:t>DistilBERT</a:t>
            </a:r>
            <a:r>
              <a:rPr dirty="0">
                <a:solidFill>
                  <a:srgbClr val="FFFFFF"/>
                </a:solidFill>
              </a:rPr>
              <a:t>, a distilled version of BERT: smaller, faster, cheaper and lighter. arXiv:1910.01108. https://arxiv.org/abs/1910.01108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2179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BA5B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2032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5000" y="0"/>
                </a:moveTo>
                <a:cubicBezTo>
                  <a:pt x="646410" y="0"/>
                  <a:pt x="657820" y="2480"/>
                  <a:pt x="668238" y="7193"/>
                </a:cubicBezTo>
                <a:lnTo>
                  <a:pt x="1135559" y="205383"/>
                </a:lnTo>
                <a:cubicBezTo>
                  <a:pt x="1190129" y="228451"/>
                  <a:pt x="1230809" y="282277"/>
                  <a:pt x="1230561" y="347266"/>
                </a:cubicBezTo>
                <a:cubicBezTo>
                  <a:pt x="1229320" y="593328"/>
                  <a:pt x="1128117" y="1043533"/>
                  <a:pt x="700732" y="1248172"/>
                </a:cubicBezTo>
                <a:cubicBezTo>
                  <a:pt x="659309" y="1268016"/>
                  <a:pt x="611188" y="1268016"/>
                  <a:pt x="569764" y="1248172"/>
                </a:cubicBezTo>
                <a:cubicBezTo>
                  <a:pt x="142131" y="1043533"/>
                  <a:pt x="41176" y="593328"/>
                  <a:pt x="39936" y="347266"/>
                </a:cubicBezTo>
                <a:cubicBezTo>
                  <a:pt x="39687" y="282277"/>
                  <a:pt x="80367" y="228451"/>
                  <a:pt x="134937" y="205383"/>
                </a:cubicBezTo>
                <a:lnTo>
                  <a:pt x="602010" y="7193"/>
                </a:lnTo>
                <a:cubicBezTo>
                  <a:pt x="612428" y="2480"/>
                  <a:pt x="623590" y="0"/>
                  <a:pt x="635000" y="0"/>
                </a:cubicBezTo>
                <a:close/>
                <a:moveTo>
                  <a:pt x="635000" y="165695"/>
                </a:moveTo>
                <a:lnTo>
                  <a:pt x="635000" y="1103561"/>
                </a:lnTo>
                <a:cubicBezTo>
                  <a:pt x="977305" y="937865"/>
                  <a:pt x="1069330" y="570756"/>
                  <a:pt x="1071563" y="350986"/>
                </a:cubicBezTo>
                <a:lnTo>
                  <a:pt x="635000" y="165943"/>
                </a:lnTo>
                <a:lnTo>
                  <a:pt x="635000" y="165943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413000" y="3810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83000" y="495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i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5842000"/>
            <a:ext cx="2540000" cy="25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13000" y="7874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BA5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Jerin Pious  •  Evan Tomy  |  Advanced Machine Learning  |  Conestoga College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359928-C1D4-F342-8907-14CB664AB80E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888</Words>
  <Application>Microsoft Office PowerPoint</Application>
  <PresentationFormat>Custom</PresentationFormat>
  <Paragraphs>162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Quattrocento Sans</vt:lpstr>
      <vt:lpstr>Calibri</vt:lpstr>
      <vt:lpstr>Oranienbaum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Hate Speech &amp; Toxicity Detection</dc:title>
  <dc:subject>Hate Speech &amp; Toxicity Detection</dc:subject>
  <dc:creator>Kimi</dc:creator>
  <cp:lastModifiedBy>Evan John</cp:lastModifiedBy>
  <cp:revision>17</cp:revision>
  <dcterms:created xsi:type="dcterms:W3CDTF">2026-06-23T16:15:51Z</dcterms:created>
  <dcterms:modified xsi:type="dcterms:W3CDTF">2026-07-26T02:49:16Z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{"Label":"Hate Speech &amp; Toxicity Detection","ContentProducer":"001191110108MACG2KBH8F10000","ProduceID":"19ef532a-1942-81f8-8000-00005fa71ed2","ReservedCode1":"","ContentPropagator":"001191110108MACG2KBH8F20000","PropagateID":"19ef528c-a8a2-88da-8000-0903a47184f3","ReservedCode2":""}</vt:lpwstr>
  </property>
</Properties>
</file>